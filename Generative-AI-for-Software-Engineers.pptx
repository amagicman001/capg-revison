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Raleway"/>
      <p:regular r:id="rId17"/>
    </p:embeddedFont>
    <p:embeddedFont>
      <p:font typeface="Raleway"/>
      <p:regular r:id="rId18"/>
    </p:embeddedFont>
    <p:embeddedFont>
      <p:font typeface="Raleway"/>
      <p:regular r:id="rId19"/>
    </p:embeddedFont>
    <p:embeddedFont>
      <p:font typeface="Raleway"/>
      <p:regular r:id="rId20"/>
    </p:embeddedFont>
    <p:embeddedFont>
      <p:font typeface="Roboto"/>
      <p:regular r:id="rId21"/>
    </p:embeddedFont>
    <p:embeddedFont>
      <p:font typeface="Roboto"/>
      <p:regular r:id="rId22"/>
    </p:embeddedFont>
    <p:embeddedFont>
      <p:font typeface="Roboto"/>
      <p:regular r:id="rId23"/>
    </p:embeddedFont>
    <p:embeddedFont>
      <p:font typeface="Roboto"/>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9.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algn="ctr" indent="0" marL="0">
              <a:lnSpc>
                <a:spcPts val="5550"/>
              </a:lnSpc>
              <a:buNone/>
            </a:pPr>
            <a:r>
              <a:rPr lang="en-US" sz="4450" dirty="0">
                <a:solidFill>
                  <a:srgbClr val="1B1B27"/>
                </a:solidFill>
                <a:latin typeface="Raleway" pitchFamily="34" charset="0"/>
                <a:ea typeface="Raleway" pitchFamily="34" charset="-122"/>
                <a:cs typeface="Raleway" pitchFamily="34" charset="-120"/>
              </a:rPr>
              <a:t>Generative AI for Software Engineers</a:t>
            </a:r>
            <a:endParaRPr lang="en-US" sz="445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algn="ctr" indent="0" marL="0">
              <a:lnSpc>
                <a:spcPts val="2850"/>
              </a:lnSpc>
              <a:buNone/>
            </a:pPr>
            <a:r>
              <a:rPr lang="en-US" sz="1750" dirty="0">
                <a:solidFill>
                  <a:srgbClr val="3C3939"/>
                </a:solidFill>
                <a:latin typeface="Roboto" pitchFamily="34" charset="0"/>
                <a:ea typeface="Roboto" pitchFamily="34" charset="-122"/>
                <a:cs typeface="Roboto" pitchFamily="34" charset="-120"/>
              </a:rPr>
              <a:t>Unlocking new levels of productivity and innovation.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897523" y="1345644"/>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B1B27"/>
                </a:solidFill>
                <a:latin typeface="Raleway" pitchFamily="34" charset="0"/>
                <a:ea typeface="Raleway" pitchFamily="34" charset="-122"/>
                <a:cs typeface="Raleway" pitchFamily="34" charset="-120"/>
              </a:rPr>
              <a:t>Chapter 1</a:t>
            </a:r>
            <a:endParaRPr lang="en-US" sz="2200" dirty="0"/>
          </a:p>
        </p:txBody>
      </p:sp>
      <p:sp>
        <p:nvSpPr>
          <p:cNvPr id="3" name="Text 1"/>
          <p:cNvSpPr/>
          <p:nvPr/>
        </p:nvSpPr>
        <p:spPr>
          <a:xfrm>
            <a:off x="3577590" y="1926788"/>
            <a:ext cx="7475101" cy="708779"/>
          </a:xfrm>
          <a:prstGeom prst="rect">
            <a:avLst/>
          </a:prstGeom>
          <a:noFill/>
          <a:ln/>
        </p:spPr>
        <p:txBody>
          <a:bodyPr wrap="none" lIns="0" tIns="0" rIns="0" bIns="0" rtlCol="0" anchor="t"/>
          <a:lstStyle/>
          <a:p>
            <a:pPr algn="ctr" indent="0" marL="0">
              <a:lnSpc>
                <a:spcPts val="5550"/>
              </a:lnSpc>
              <a:buNone/>
            </a:pPr>
            <a:r>
              <a:rPr lang="en-US" sz="4450" dirty="0">
                <a:solidFill>
                  <a:srgbClr val="1B1B27"/>
                </a:solidFill>
                <a:latin typeface="Raleway" pitchFamily="34" charset="0"/>
                <a:ea typeface="Raleway" pitchFamily="34" charset="-122"/>
                <a:cs typeface="Raleway" pitchFamily="34" charset="-120"/>
              </a:rPr>
              <a:t>Introduction to Generative AI</a:t>
            </a:r>
            <a:endParaRPr lang="en-US" sz="4450" dirty="0"/>
          </a:p>
        </p:txBody>
      </p:sp>
      <p:sp>
        <p:nvSpPr>
          <p:cNvPr id="4" name="Shape 2"/>
          <p:cNvSpPr/>
          <p:nvPr/>
        </p:nvSpPr>
        <p:spPr>
          <a:xfrm>
            <a:off x="793790" y="2975729"/>
            <a:ext cx="4196358" cy="3908227"/>
          </a:xfrm>
          <a:prstGeom prst="roundRect">
            <a:avLst>
              <a:gd name="adj" fmla="val 3743"/>
            </a:avLst>
          </a:prstGeom>
          <a:solidFill>
            <a:srgbClr val="FFFFFF">
              <a:alpha val="95000"/>
            </a:srgbClr>
          </a:solidFill>
          <a:ln w="30480">
            <a:solidFill>
              <a:srgbClr val="C7C7D0"/>
            </a:solidFill>
            <a:prstDash val="solid"/>
          </a:ln>
        </p:spPr>
      </p:sp>
      <p:sp>
        <p:nvSpPr>
          <p:cNvPr id="5" name="Shape 3"/>
          <p:cNvSpPr/>
          <p:nvPr/>
        </p:nvSpPr>
        <p:spPr>
          <a:xfrm>
            <a:off x="763310" y="2975729"/>
            <a:ext cx="121920" cy="3908227"/>
          </a:xfrm>
          <a:prstGeom prst="roundRect">
            <a:avLst>
              <a:gd name="adj" fmla="val 78139"/>
            </a:avLst>
          </a:prstGeom>
          <a:solidFill>
            <a:srgbClr val="1B1B27"/>
          </a:solidFill>
          <a:ln/>
        </p:spPr>
      </p:sp>
      <p:sp>
        <p:nvSpPr>
          <p:cNvPr id="6" name="Text 4"/>
          <p:cNvSpPr/>
          <p:nvPr/>
        </p:nvSpPr>
        <p:spPr>
          <a:xfrm>
            <a:off x="1142524" y="3233023"/>
            <a:ext cx="2849880"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Generative AI Defined</a:t>
            </a:r>
            <a:endParaRPr lang="en-US" sz="2200" dirty="0"/>
          </a:p>
        </p:txBody>
      </p:sp>
      <p:sp>
        <p:nvSpPr>
          <p:cNvPr id="7" name="Text 5"/>
          <p:cNvSpPr/>
          <p:nvPr/>
        </p:nvSpPr>
        <p:spPr>
          <a:xfrm>
            <a:off x="1142524" y="3723442"/>
            <a:ext cx="3590330" cy="217741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Generative AI creates new content (code, text, images). This contrasts with Traditional AI, which focuses on predefined tasks like classification, or Descriptive AI, which summarises data.</a:t>
            </a:r>
            <a:endParaRPr lang="en-US" sz="1750" dirty="0"/>
          </a:p>
        </p:txBody>
      </p:sp>
      <p:sp>
        <p:nvSpPr>
          <p:cNvPr id="8" name="Shape 6"/>
          <p:cNvSpPr/>
          <p:nvPr/>
        </p:nvSpPr>
        <p:spPr>
          <a:xfrm>
            <a:off x="5216962" y="2975729"/>
            <a:ext cx="4196358" cy="3908227"/>
          </a:xfrm>
          <a:prstGeom prst="roundRect">
            <a:avLst>
              <a:gd name="adj" fmla="val 3743"/>
            </a:avLst>
          </a:prstGeom>
          <a:solidFill>
            <a:srgbClr val="FFFFFF">
              <a:alpha val="95000"/>
            </a:srgbClr>
          </a:solidFill>
          <a:ln w="30480">
            <a:solidFill>
              <a:srgbClr val="C7C7D0"/>
            </a:solidFill>
            <a:prstDash val="solid"/>
          </a:ln>
        </p:spPr>
      </p:sp>
      <p:sp>
        <p:nvSpPr>
          <p:cNvPr id="9" name="Shape 7"/>
          <p:cNvSpPr/>
          <p:nvPr/>
        </p:nvSpPr>
        <p:spPr>
          <a:xfrm>
            <a:off x="5186482" y="2975729"/>
            <a:ext cx="121920" cy="3908227"/>
          </a:xfrm>
          <a:prstGeom prst="roundRect">
            <a:avLst>
              <a:gd name="adj" fmla="val 78139"/>
            </a:avLst>
          </a:prstGeom>
          <a:solidFill>
            <a:srgbClr val="1B1B27"/>
          </a:solidFill>
          <a:ln/>
        </p:spPr>
      </p:sp>
      <p:sp>
        <p:nvSpPr>
          <p:cNvPr id="10" name="Text 8"/>
          <p:cNvSpPr/>
          <p:nvPr/>
        </p:nvSpPr>
        <p:spPr>
          <a:xfrm>
            <a:off x="5565696" y="3233023"/>
            <a:ext cx="3458528"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AI, ML, DL: The Landscape</a:t>
            </a:r>
            <a:endParaRPr lang="en-US" sz="2200" dirty="0"/>
          </a:p>
        </p:txBody>
      </p:sp>
      <p:sp>
        <p:nvSpPr>
          <p:cNvPr id="11" name="Text 9"/>
          <p:cNvSpPr/>
          <p:nvPr/>
        </p:nvSpPr>
        <p:spPr>
          <a:xfrm>
            <a:off x="5565696" y="3723442"/>
            <a:ext cx="3590330" cy="2903220"/>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Artificial Intelligence (AI) is the broad concept of machines mimicking human intelligence. Machine Learning (ML) is a subset of AI that enables systems to learn from data. Deep Learning (DL) is a subset of ML using neural networks.</a:t>
            </a:r>
            <a:endParaRPr lang="en-US" sz="1750" dirty="0"/>
          </a:p>
        </p:txBody>
      </p:sp>
      <p:sp>
        <p:nvSpPr>
          <p:cNvPr id="12" name="Shape 10"/>
          <p:cNvSpPr/>
          <p:nvPr/>
        </p:nvSpPr>
        <p:spPr>
          <a:xfrm>
            <a:off x="9640133" y="2975729"/>
            <a:ext cx="4196358" cy="3908227"/>
          </a:xfrm>
          <a:prstGeom prst="roundRect">
            <a:avLst>
              <a:gd name="adj" fmla="val 3743"/>
            </a:avLst>
          </a:prstGeom>
          <a:solidFill>
            <a:srgbClr val="FFFFFF">
              <a:alpha val="95000"/>
            </a:srgbClr>
          </a:solidFill>
          <a:ln w="30480">
            <a:solidFill>
              <a:srgbClr val="C7C7D0"/>
            </a:solidFill>
            <a:prstDash val="solid"/>
          </a:ln>
        </p:spPr>
      </p:sp>
      <p:sp>
        <p:nvSpPr>
          <p:cNvPr id="13" name="Shape 11"/>
          <p:cNvSpPr/>
          <p:nvPr/>
        </p:nvSpPr>
        <p:spPr>
          <a:xfrm>
            <a:off x="9609653" y="2975729"/>
            <a:ext cx="121920" cy="3908227"/>
          </a:xfrm>
          <a:prstGeom prst="roundRect">
            <a:avLst>
              <a:gd name="adj" fmla="val 78139"/>
            </a:avLst>
          </a:prstGeom>
          <a:solidFill>
            <a:srgbClr val="1B1B27"/>
          </a:solidFill>
          <a:ln/>
        </p:spPr>
      </p:sp>
      <p:sp>
        <p:nvSpPr>
          <p:cNvPr id="14" name="Text 12"/>
          <p:cNvSpPr/>
          <p:nvPr/>
        </p:nvSpPr>
        <p:spPr>
          <a:xfrm>
            <a:off x="9988868" y="323302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Core Idea</a:t>
            </a:r>
            <a:endParaRPr lang="en-US" sz="2200" dirty="0"/>
          </a:p>
        </p:txBody>
      </p:sp>
      <p:sp>
        <p:nvSpPr>
          <p:cNvPr id="15" name="Text 13"/>
          <p:cNvSpPr/>
          <p:nvPr/>
        </p:nvSpPr>
        <p:spPr>
          <a:xfrm>
            <a:off x="9988868" y="3723442"/>
            <a:ext cx="3590330" cy="1814513"/>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At its heart, Generative AI goes beyond analysis; it produces original, contextually relevant outputs, revolutionising content creation and problem-solving.</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67538" y="423743"/>
            <a:ext cx="4495324" cy="481608"/>
          </a:xfrm>
          <a:prstGeom prst="rect">
            <a:avLst/>
          </a:prstGeom>
          <a:noFill/>
          <a:ln/>
        </p:spPr>
        <p:txBody>
          <a:bodyPr wrap="none" lIns="0" tIns="0" rIns="0" bIns="0" rtlCol="0" anchor="t"/>
          <a:lstStyle/>
          <a:p>
            <a:pPr algn="ctr" indent="0" marL="0">
              <a:lnSpc>
                <a:spcPts val="3750"/>
              </a:lnSpc>
              <a:buNone/>
            </a:pPr>
            <a:r>
              <a:rPr lang="en-US" sz="3000" dirty="0">
                <a:solidFill>
                  <a:srgbClr val="1B1B27"/>
                </a:solidFill>
                <a:latin typeface="Raleway" pitchFamily="34" charset="0"/>
                <a:ea typeface="Raleway" pitchFamily="34" charset="-122"/>
                <a:cs typeface="Raleway" pitchFamily="34" charset="-120"/>
              </a:rPr>
              <a:t>How Generative AI Works</a:t>
            </a:r>
            <a:endParaRPr lang="en-US" sz="3000" dirty="0"/>
          </a:p>
        </p:txBody>
      </p:sp>
      <p:pic>
        <p:nvPicPr>
          <p:cNvPr id="3" name="Image 0" descr="preencoded.png">    </p:cNvPr>
          <p:cNvPicPr>
            <a:picLocks noChangeAspect="1"/>
          </p:cNvPicPr>
          <p:nvPr/>
        </p:nvPicPr>
        <p:blipFill>
          <a:blip r:embed="rId1"/>
          <a:stretch>
            <a:fillRect/>
          </a:stretch>
        </p:blipFill>
        <p:spPr>
          <a:xfrm>
            <a:off x="2079903" y="1213485"/>
            <a:ext cx="10470475" cy="7215545"/>
          </a:xfrm>
          <a:prstGeom prst="rect">
            <a:avLst/>
          </a:prstGeom>
        </p:spPr>
      </p:pic>
      <p:sp>
        <p:nvSpPr>
          <p:cNvPr id="4" name="Text 1"/>
          <p:cNvSpPr/>
          <p:nvPr/>
        </p:nvSpPr>
        <p:spPr>
          <a:xfrm>
            <a:off x="2342186" y="5703254"/>
            <a:ext cx="2861273" cy="381136"/>
          </a:xfrm>
          <a:prstGeom prst="rect">
            <a:avLst/>
          </a:prstGeom>
          <a:noFill/>
          <a:ln/>
        </p:spPr>
        <p:txBody>
          <a:bodyPr wrap="none" lIns="0" tIns="0" rIns="0" bIns="0" rtlCol="0" anchor="t"/>
          <a:lstStyle/>
          <a:p>
            <a:pPr algn="ctr" indent="0" marL="0">
              <a:lnSpc>
                <a:spcPts val="1650"/>
              </a:lnSpc>
              <a:buNone/>
            </a:pPr>
            <a:r>
              <a:rPr lang="en-US" sz="1350" dirty="0">
                <a:solidFill>
                  <a:srgbClr val="3C3939"/>
                </a:solidFill>
                <a:latin typeface="Raleway" pitchFamily="34" charset="0"/>
                <a:ea typeface="Raleway" pitchFamily="34" charset="-122"/>
                <a:cs typeface="Raleway" pitchFamily="34" charset="-120"/>
              </a:rPr>
              <a:t>Learn Data</a:t>
            </a:r>
            <a:endParaRPr lang="en-US" sz="1350" dirty="0"/>
          </a:p>
        </p:txBody>
      </p:sp>
      <p:pic>
        <p:nvPicPr>
          <p:cNvPr id="5" name="Image 1" descr="preencoded.png">    </p:cNvPr>
          <p:cNvPicPr>
            <a:picLocks noChangeAspect="1"/>
          </p:cNvPicPr>
          <p:nvPr/>
        </p:nvPicPr>
        <p:blipFill>
          <a:blip r:embed="rId2"/>
          <a:stretch>
            <a:fillRect/>
          </a:stretch>
        </p:blipFill>
        <p:spPr>
          <a:xfrm>
            <a:off x="3564151" y="3865120"/>
            <a:ext cx="677575" cy="677575"/>
          </a:xfrm>
          <a:prstGeom prst="rect">
            <a:avLst/>
          </a:prstGeom>
        </p:spPr>
      </p:pic>
      <p:sp>
        <p:nvSpPr>
          <p:cNvPr id="6" name="Text 2"/>
          <p:cNvSpPr/>
          <p:nvPr/>
        </p:nvSpPr>
        <p:spPr>
          <a:xfrm>
            <a:off x="4780398" y="2673223"/>
            <a:ext cx="2954227" cy="381136"/>
          </a:xfrm>
          <a:prstGeom prst="rect">
            <a:avLst/>
          </a:prstGeom>
          <a:noFill/>
          <a:ln/>
        </p:spPr>
        <p:txBody>
          <a:bodyPr wrap="none" lIns="0" tIns="0" rIns="0" bIns="0" rtlCol="0" anchor="t"/>
          <a:lstStyle/>
          <a:p>
            <a:pPr algn="ctr" indent="0" marL="0">
              <a:lnSpc>
                <a:spcPts val="1650"/>
              </a:lnSpc>
              <a:buNone/>
            </a:pPr>
            <a:r>
              <a:rPr lang="en-US" sz="1350" dirty="0">
                <a:solidFill>
                  <a:srgbClr val="3C3939"/>
                </a:solidFill>
                <a:latin typeface="Raleway" pitchFamily="34" charset="0"/>
                <a:ea typeface="Raleway" pitchFamily="34" charset="-122"/>
                <a:cs typeface="Raleway" pitchFamily="34" charset="-120"/>
              </a:rPr>
              <a:t>Probabilistic Models</a:t>
            </a:r>
            <a:endParaRPr lang="en-US" sz="1350" dirty="0"/>
          </a:p>
        </p:txBody>
      </p:sp>
      <p:pic>
        <p:nvPicPr>
          <p:cNvPr id="7" name="Image 2" descr="preencoded.png">    </p:cNvPr>
          <p:cNvPicPr>
            <a:picLocks noChangeAspect="1"/>
          </p:cNvPicPr>
          <p:nvPr/>
        </p:nvPicPr>
        <p:blipFill>
          <a:blip r:embed="rId3"/>
          <a:stretch>
            <a:fillRect/>
          </a:stretch>
        </p:blipFill>
        <p:spPr>
          <a:xfrm>
            <a:off x="5705923" y="4278229"/>
            <a:ext cx="677575" cy="677575"/>
          </a:xfrm>
          <a:prstGeom prst="rect">
            <a:avLst/>
          </a:prstGeom>
        </p:spPr>
      </p:pic>
      <p:sp>
        <p:nvSpPr>
          <p:cNvPr id="8" name="Text 3"/>
          <p:cNvSpPr/>
          <p:nvPr/>
        </p:nvSpPr>
        <p:spPr>
          <a:xfrm>
            <a:off x="6763576" y="6590666"/>
            <a:ext cx="2861273" cy="381136"/>
          </a:xfrm>
          <a:prstGeom prst="rect">
            <a:avLst/>
          </a:prstGeom>
          <a:noFill/>
          <a:ln/>
        </p:spPr>
        <p:txBody>
          <a:bodyPr wrap="none" lIns="0" tIns="0" rIns="0" bIns="0" rtlCol="0" anchor="t"/>
          <a:lstStyle/>
          <a:p>
            <a:pPr algn="ctr" indent="0" marL="0">
              <a:lnSpc>
                <a:spcPts val="1650"/>
              </a:lnSpc>
              <a:buNone/>
            </a:pPr>
            <a:r>
              <a:rPr lang="en-US" sz="1350" dirty="0">
                <a:solidFill>
                  <a:srgbClr val="3C3939"/>
                </a:solidFill>
                <a:latin typeface="Raleway" pitchFamily="34" charset="0"/>
                <a:ea typeface="Raleway" pitchFamily="34" charset="-122"/>
                <a:cs typeface="Raleway" pitchFamily="34" charset="-120"/>
              </a:rPr>
              <a:t>Generate Content</a:t>
            </a:r>
            <a:endParaRPr lang="en-US" sz="1350" dirty="0"/>
          </a:p>
        </p:txBody>
      </p:sp>
      <p:pic>
        <p:nvPicPr>
          <p:cNvPr id="9" name="Image 3" descr="preencoded.png">    </p:cNvPr>
          <p:cNvPicPr>
            <a:picLocks noChangeAspect="1"/>
          </p:cNvPicPr>
          <p:nvPr/>
        </p:nvPicPr>
        <p:blipFill>
          <a:blip r:embed="rId4"/>
          <a:stretch>
            <a:fillRect/>
          </a:stretch>
        </p:blipFill>
        <p:spPr>
          <a:xfrm>
            <a:off x="7847908" y="4691338"/>
            <a:ext cx="677575" cy="677575"/>
          </a:xfrm>
          <a:prstGeom prst="rect">
            <a:avLst/>
          </a:prstGeom>
        </p:spPr>
      </p:pic>
      <p:sp>
        <p:nvSpPr>
          <p:cNvPr id="10" name="Text 4"/>
          <p:cNvSpPr/>
          <p:nvPr/>
        </p:nvSpPr>
        <p:spPr>
          <a:xfrm>
            <a:off x="9303424" y="3470856"/>
            <a:ext cx="2861273" cy="381136"/>
          </a:xfrm>
          <a:prstGeom prst="rect">
            <a:avLst/>
          </a:prstGeom>
          <a:noFill/>
          <a:ln/>
        </p:spPr>
        <p:txBody>
          <a:bodyPr wrap="none" lIns="0" tIns="0" rIns="0" bIns="0" rtlCol="0" anchor="t"/>
          <a:lstStyle/>
          <a:p>
            <a:pPr algn="ctr" indent="0" marL="0">
              <a:lnSpc>
                <a:spcPts val="1650"/>
              </a:lnSpc>
              <a:buNone/>
            </a:pPr>
            <a:r>
              <a:rPr lang="en-US" sz="1350" dirty="0">
                <a:solidFill>
                  <a:srgbClr val="3C3939"/>
                </a:solidFill>
                <a:latin typeface="Raleway" pitchFamily="34" charset="0"/>
                <a:ea typeface="Raleway" pitchFamily="34" charset="-122"/>
                <a:cs typeface="Raleway" pitchFamily="34" charset="-120"/>
              </a:rPr>
              <a:t>Transformers</a:t>
            </a:r>
            <a:endParaRPr lang="en-US" sz="1350" dirty="0"/>
          </a:p>
        </p:txBody>
      </p:sp>
      <p:pic>
        <p:nvPicPr>
          <p:cNvPr id="11" name="Image 4" descr="preencoded.png">    </p:cNvPr>
          <p:cNvPicPr>
            <a:picLocks noChangeAspect="1"/>
          </p:cNvPicPr>
          <p:nvPr/>
        </p:nvPicPr>
        <p:blipFill>
          <a:blip r:embed="rId5"/>
          <a:stretch>
            <a:fillRect/>
          </a:stretch>
        </p:blipFill>
        <p:spPr>
          <a:xfrm>
            <a:off x="10127524" y="5134938"/>
            <a:ext cx="677575" cy="677575"/>
          </a:xfrm>
          <a:prstGeom prst="rect">
            <a:avLst/>
          </a:prstGeom>
        </p:spPr>
      </p:pic>
      <p:sp>
        <p:nvSpPr>
          <p:cNvPr id="12" name="Text 5"/>
          <p:cNvSpPr/>
          <p:nvPr/>
        </p:nvSpPr>
        <p:spPr>
          <a:xfrm>
            <a:off x="539353" y="8602385"/>
            <a:ext cx="13551694" cy="492919"/>
          </a:xfrm>
          <a:prstGeom prst="rect">
            <a:avLst/>
          </a:prstGeom>
          <a:noFill/>
          <a:ln/>
        </p:spPr>
        <p:txBody>
          <a:bodyPr wrap="square" lIns="0" tIns="0" rIns="0" bIns="0" rtlCol="0" anchor="t"/>
          <a:lstStyle/>
          <a:p>
            <a:pPr algn="l" indent="0" marL="0">
              <a:lnSpc>
                <a:spcPts val="1900"/>
              </a:lnSpc>
              <a:buNone/>
            </a:pPr>
            <a:r>
              <a:rPr lang="en-US" sz="1200" dirty="0">
                <a:solidFill>
                  <a:srgbClr val="3C3939"/>
                </a:solidFill>
                <a:latin typeface="Roboto" pitchFamily="34" charset="0"/>
                <a:ea typeface="Roboto" pitchFamily="34" charset="-122"/>
                <a:cs typeface="Roboto" pitchFamily="34" charset="-120"/>
              </a:rPr>
              <a:t>Generative AI models learn intricate patterns from vast datasets, enabling them to generate novel content. These models often leverage transformer architectures, processing data sequentially to understand context and relationships. This probabilistic modelling allows them to predict and create outputs, from human-like text to photorealistic images.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897523" y="701159"/>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1B1B27"/>
                </a:solidFill>
                <a:latin typeface="Raleway" pitchFamily="34" charset="0"/>
                <a:ea typeface="Raleway" pitchFamily="34" charset="-122"/>
                <a:cs typeface="Raleway" pitchFamily="34" charset="-120"/>
              </a:rPr>
              <a:t>Chapter 2</a:t>
            </a:r>
            <a:endParaRPr lang="en-US" sz="2200" dirty="0"/>
          </a:p>
        </p:txBody>
      </p:sp>
      <p:sp>
        <p:nvSpPr>
          <p:cNvPr id="3" name="Text 1"/>
          <p:cNvSpPr/>
          <p:nvPr/>
        </p:nvSpPr>
        <p:spPr>
          <a:xfrm>
            <a:off x="793790" y="1282303"/>
            <a:ext cx="13042821" cy="1417558"/>
          </a:xfrm>
          <a:prstGeom prst="rect">
            <a:avLst/>
          </a:prstGeom>
          <a:noFill/>
          <a:ln/>
        </p:spPr>
        <p:txBody>
          <a:bodyPr wrap="square" lIns="0" tIns="0" rIns="0" bIns="0" rtlCol="0" anchor="t"/>
          <a:lstStyle/>
          <a:p>
            <a:pPr algn="ctr" indent="0" marL="0">
              <a:lnSpc>
                <a:spcPts val="5550"/>
              </a:lnSpc>
              <a:buNone/>
            </a:pPr>
            <a:r>
              <a:rPr lang="en-US" sz="4450" dirty="0">
                <a:solidFill>
                  <a:srgbClr val="1B1B27"/>
                </a:solidFill>
                <a:latin typeface="Raleway" pitchFamily="34" charset="0"/>
                <a:ea typeface="Raleway" pitchFamily="34" charset="-122"/>
                <a:cs typeface="Raleway" pitchFamily="34" charset="-120"/>
              </a:rPr>
              <a:t>Why Generative AI Matters for Software Engineers</a:t>
            </a:r>
            <a:endParaRPr lang="en-US" sz="4450" dirty="0"/>
          </a:p>
        </p:txBody>
      </p:sp>
      <p:sp>
        <p:nvSpPr>
          <p:cNvPr id="4" name="Text 2"/>
          <p:cNvSpPr/>
          <p:nvPr/>
        </p:nvSpPr>
        <p:spPr>
          <a:xfrm>
            <a:off x="793790" y="3244096"/>
            <a:ext cx="3978116"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5CC97B"/>
                </a:solidFill>
                <a:latin typeface="Roboto" pitchFamily="34" charset="0"/>
                <a:ea typeface="Roboto" pitchFamily="34" charset="-122"/>
                <a:cs typeface="Roboto" pitchFamily="34" charset="-120"/>
              </a:rPr>
              <a:t>Boost productivity</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Automates repetitive tasks and boilerplate code.</a:t>
            </a:r>
            <a:endParaRPr lang="en-US" sz="1750" dirty="0"/>
          </a:p>
        </p:txBody>
      </p:sp>
      <p:sp>
        <p:nvSpPr>
          <p:cNvPr id="5" name="Text 3"/>
          <p:cNvSpPr/>
          <p:nvPr/>
        </p:nvSpPr>
        <p:spPr>
          <a:xfrm>
            <a:off x="793790" y="4412099"/>
            <a:ext cx="3978116"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5CC97B"/>
                </a:solidFill>
                <a:latin typeface="Roboto" pitchFamily="34" charset="0"/>
                <a:ea typeface="Roboto" pitchFamily="34" charset="-122"/>
                <a:cs typeface="Roboto" pitchFamily="34" charset="-120"/>
              </a:rPr>
              <a:t>Faster prototyping</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Quickly generates initial code structures and ideas.</a:t>
            </a:r>
            <a:endParaRPr lang="en-US" sz="1750" dirty="0"/>
          </a:p>
        </p:txBody>
      </p:sp>
      <p:sp>
        <p:nvSpPr>
          <p:cNvPr id="6" name="Text 4"/>
          <p:cNvSpPr/>
          <p:nvPr/>
        </p:nvSpPr>
        <p:spPr>
          <a:xfrm>
            <a:off x="793790" y="5580102"/>
            <a:ext cx="3978116"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5CC97B"/>
                </a:solidFill>
                <a:latin typeface="Roboto" pitchFamily="34" charset="0"/>
                <a:ea typeface="Roboto" pitchFamily="34" charset="-122"/>
                <a:cs typeface="Roboto" pitchFamily="34" charset="-120"/>
              </a:rPr>
              <a:t>Code explanation and debugging</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Helps understand complex code sections and suggests fixes.</a:t>
            </a:r>
            <a:endParaRPr lang="en-US" sz="1750" dirty="0"/>
          </a:p>
        </p:txBody>
      </p:sp>
      <p:pic>
        <p:nvPicPr>
          <p:cNvPr id="7" name="Image 0" descr="preencoded.png">    </p:cNvPr>
          <p:cNvPicPr>
            <a:picLocks noChangeAspect="1"/>
          </p:cNvPicPr>
          <p:nvPr/>
        </p:nvPicPr>
        <p:blipFill>
          <a:blip r:embed="rId1"/>
          <a:stretch>
            <a:fillRect/>
          </a:stretch>
        </p:blipFill>
        <p:spPr>
          <a:xfrm>
            <a:off x="5332928" y="3295174"/>
            <a:ext cx="3978116" cy="3978116"/>
          </a:xfrm>
          <a:prstGeom prst="rect">
            <a:avLst/>
          </a:prstGeom>
        </p:spPr>
      </p:pic>
      <p:sp>
        <p:nvSpPr>
          <p:cNvPr id="8" name="Text 5"/>
          <p:cNvSpPr/>
          <p:nvPr/>
        </p:nvSpPr>
        <p:spPr>
          <a:xfrm>
            <a:off x="9872067" y="3244096"/>
            <a:ext cx="3978116"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5CC97B"/>
                </a:solidFill>
                <a:latin typeface="Roboto" pitchFamily="34" charset="0"/>
                <a:ea typeface="Roboto" pitchFamily="34" charset="-122"/>
                <a:cs typeface="Roboto" pitchFamily="34" charset="-120"/>
              </a:rPr>
              <a:t>Infrastructure as code generation</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Automates the creation of configuration files.</a:t>
            </a:r>
            <a:endParaRPr lang="en-US" sz="1750" dirty="0"/>
          </a:p>
        </p:txBody>
      </p:sp>
      <p:sp>
        <p:nvSpPr>
          <p:cNvPr id="9" name="Text 6"/>
          <p:cNvSpPr/>
          <p:nvPr/>
        </p:nvSpPr>
        <p:spPr>
          <a:xfrm>
            <a:off x="9872067" y="4412099"/>
            <a:ext cx="3978116"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5CC97B"/>
                </a:solidFill>
                <a:latin typeface="Roboto" pitchFamily="34" charset="0"/>
                <a:ea typeface="Roboto" pitchFamily="34" charset="-122"/>
                <a:cs typeface="Roboto" pitchFamily="34" charset="-120"/>
              </a:rPr>
              <a:t>Seamless documentation</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Automatically generates and updates project documentation.</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91396"/>
            <a:ext cx="13042821" cy="1417558"/>
          </a:xfrm>
          <a:prstGeom prst="rect">
            <a:avLst/>
          </a:prstGeom>
          <a:noFill/>
          <a:ln/>
        </p:spPr>
        <p:txBody>
          <a:bodyPr wrap="square" lIns="0" tIns="0" rIns="0" bIns="0" rtlCol="0" anchor="t"/>
          <a:lstStyle/>
          <a:p>
            <a:pPr algn="ctr" indent="0" marL="0">
              <a:lnSpc>
                <a:spcPts val="5550"/>
              </a:lnSpc>
              <a:buNone/>
            </a:pPr>
            <a:r>
              <a:rPr lang="en-US" sz="4450" dirty="0">
                <a:solidFill>
                  <a:srgbClr val="1B1B27"/>
                </a:solidFill>
                <a:latin typeface="Raleway" pitchFamily="34" charset="0"/>
                <a:ea typeface="Raleway" pitchFamily="34" charset="-122"/>
                <a:cs typeface="Raleway" pitchFamily="34" charset="-120"/>
              </a:rPr>
              <a:t>Where to Use Generative AI in Software Development</a:t>
            </a:r>
            <a:endParaRPr lang="en-US" sz="4450" dirty="0"/>
          </a:p>
        </p:txBody>
      </p:sp>
      <p:sp>
        <p:nvSpPr>
          <p:cNvPr id="3" name="Text 1"/>
          <p:cNvSpPr/>
          <p:nvPr/>
        </p:nvSpPr>
        <p:spPr>
          <a:xfrm>
            <a:off x="793790" y="2562582"/>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Generative AI isn't just for code generation; its applications span numerous development stages, enhancing efficiency and accuracy across the board.</a:t>
            </a:r>
            <a:endParaRPr lang="en-US" sz="1750" dirty="0"/>
          </a:p>
        </p:txBody>
      </p:sp>
      <p:pic>
        <p:nvPicPr>
          <p:cNvPr id="4" name="Image 0" descr="preencoded.png">    </p:cNvPr>
          <p:cNvPicPr>
            <a:picLocks noChangeAspect="1"/>
          </p:cNvPicPr>
          <p:nvPr/>
        </p:nvPicPr>
        <p:blipFill>
          <a:blip r:embed="rId1"/>
          <a:stretch>
            <a:fillRect/>
          </a:stretch>
        </p:blipFill>
        <p:spPr>
          <a:xfrm>
            <a:off x="793790" y="3543538"/>
            <a:ext cx="566976" cy="566976"/>
          </a:xfrm>
          <a:prstGeom prst="rect">
            <a:avLst/>
          </a:prstGeom>
        </p:spPr>
      </p:pic>
      <p:sp>
        <p:nvSpPr>
          <p:cNvPr id="5" name="Text 2"/>
          <p:cNvSpPr/>
          <p:nvPr/>
        </p:nvSpPr>
        <p:spPr>
          <a:xfrm>
            <a:off x="1644253" y="367819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Coding Assistants</a:t>
            </a:r>
            <a:endParaRPr lang="en-US" sz="2200" dirty="0"/>
          </a:p>
        </p:txBody>
      </p:sp>
      <p:sp>
        <p:nvSpPr>
          <p:cNvPr id="6" name="Text 3"/>
          <p:cNvSpPr/>
          <p:nvPr/>
        </p:nvSpPr>
        <p:spPr>
          <a:xfrm>
            <a:off x="1644253" y="4168616"/>
            <a:ext cx="5529143"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Tools like Copilot and CodeWhisperer provide real-time code suggestions and auto-completion, speeding up development.</a:t>
            </a:r>
            <a:endParaRPr lang="en-US" sz="1750" dirty="0"/>
          </a:p>
        </p:txBody>
      </p:sp>
      <p:pic>
        <p:nvPicPr>
          <p:cNvPr id="7" name="Image 1" descr="preencoded.png">    </p:cNvPr>
          <p:cNvPicPr>
            <a:picLocks noChangeAspect="1"/>
          </p:cNvPicPr>
          <p:nvPr/>
        </p:nvPicPr>
        <p:blipFill>
          <a:blip r:embed="rId2"/>
          <a:stretch>
            <a:fillRect/>
          </a:stretch>
        </p:blipFill>
        <p:spPr>
          <a:xfrm>
            <a:off x="7456884" y="3543538"/>
            <a:ext cx="566976" cy="566976"/>
          </a:xfrm>
          <a:prstGeom prst="rect">
            <a:avLst/>
          </a:prstGeom>
        </p:spPr>
      </p:pic>
      <p:sp>
        <p:nvSpPr>
          <p:cNvPr id="8" name="Text 4"/>
          <p:cNvSpPr/>
          <p:nvPr/>
        </p:nvSpPr>
        <p:spPr>
          <a:xfrm>
            <a:off x="8307348" y="367819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Test Case Generation</a:t>
            </a:r>
            <a:endParaRPr lang="en-US" sz="2200" dirty="0"/>
          </a:p>
        </p:txBody>
      </p:sp>
      <p:sp>
        <p:nvSpPr>
          <p:cNvPr id="9" name="Text 5"/>
          <p:cNvSpPr/>
          <p:nvPr/>
        </p:nvSpPr>
        <p:spPr>
          <a:xfrm>
            <a:off x="8307348" y="4168616"/>
            <a:ext cx="5529263"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AI can create comprehensive test cases, reducing manual effort and improving code coverage.</a:t>
            </a:r>
            <a:endParaRPr lang="en-US" sz="1750" dirty="0"/>
          </a:p>
        </p:txBody>
      </p:sp>
      <p:pic>
        <p:nvPicPr>
          <p:cNvPr id="10" name="Image 2" descr="preencoded.png">    </p:cNvPr>
          <p:cNvPicPr>
            <a:picLocks noChangeAspect="1"/>
          </p:cNvPicPr>
          <p:nvPr/>
        </p:nvPicPr>
        <p:blipFill>
          <a:blip r:embed="rId3"/>
          <a:stretch>
            <a:fillRect/>
          </a:stretch>
        </p:blipFill>
        <p:spPr>
          <a:xfrm>
            <a:off x="793790" y="5824299"/>
            <a:ext cx="566976" cy="566976"/>
          </a:xfrm>
          <a:prstGeom prst="rect">
            <a:avLst/>
          </a:prstGeom>
        </p:spPr>
      </p:pic>
      <p:sp>
        <p:nvSpPr>
          <p:cNvPr id="11" name="Text 6"/>
          <p:cNvSpPr/>
          <p:nvPr/>
        </p:nvSpPr>
        <p:spPr>
          <a:xfrm>
            <a:off x="1644253" y="59589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DevOps Automation</a:t>
            </a:r>
            <a:endParaRPr lang="en-US" sz="2200" dirty="0"/>
          </a:p>
        </p:txBody>
      </p:sp>
      <p:sp>
        <p:nvSpPr>
          <p:cNvPr id="12" name="Text 7"/>
          <p:cNvSpPr/>
          <p:nvPr/>
        </p:nvSpPr>
        <p:spPr>
          <a:xfrm>
            <a:off x="1644253" y="6449378"/>
            <a:ext cx="5529143" cy="725805"/>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Automates the creation of YAMLs, Dockerfiles, and Terraform scripts for infrastructure setup.</a:t>
            </a:r>
            <a:endParaRPr lang="en-US" sz="1750" dirty="0"/>
          </a:p>
        </p:txBody>
      </p:sp>
      <p:pic>
        <p:nvPicPr>
          <p:cNvPr id="13" name="Image 3" descr="preencoded.png">    </p:cNvPr>
          <p:cNvPicPr>
            <a:picLocks noChangeAspect="1"/>
          </p:cNvPicPr>
          <p:nvPr/>
        </p:nvPicPr>
        <p:blipFill>
          <a:blip r:embed="rId4"/>
          <a:stretch>
            <a:fillRect/>
          </a:stretch>
        </p:blipFill>
        <p:spPr>
          <a:xfrm>
            <a:off x="7456884" y="5824299"/>
            <a:ext cx="566976" cy="566976"/>
          </a:xfrm>
          <a:prstGeom prst="rect">
            <a:avLst/>
          </a:prstGeom>
        </p:spPr>
      </p:pic>
      <p:sp>
        <p:nvSpPr>
          <p:cNvPr id="14" name="Text 8"/>
          <p:cNvSpPr/>
          <p:nvPr/>
        </p:nvSpPr>
        <p:spPr>
          <a:xfrm>
            <a:off x="8307348" y="5958959"/>
            <a:ext cx="4009430" cy="354330"/>
          </a:xfrm>
          <a:prstGeom prst="rect">
            <a:avLst/>
          </a:prstGeom>
          <a:noFill/>
          <a:ln/>
        </p:spPr>
        <p:txBody>
          <a:bodyPr wrap="none" lIns="0" tIns="0" rIns="0" bIns="0" rtlCol="0" anchor="t"/>
          <a:lstStyle/>
          <a:p>
            <a:pPr algn="l" indent="0" marL="0">
              <a:lnSpc>
                <a:spcPts val="2750"/>
              </a:lnSpc>
              <a:buNone/>
            </a:pPr>
            <a:r>
              <a:rPr lang="en-US" sz="2200" dirty="0">
                <a:solidFill>
                  <a:srgbClr val="3C3939"/>
                </a:solidFill>
                <a:latin typeface="Raleway" pitchFamily="34" charset="0"/>
                <a:ea typeface="Raleway" pitchFamily="34" charset="-122"/>
                <a:cs typeface="Raleway" pitchFamily="34" charset="-120"/>
              </a:rPr>
              <a:t>Code Review &amp; Summarisation</a:t>
            </a:r>
            <a:endParaRPr lang="en-US" sz="2200" dirty="0"/>
          </a:p>
        </p:txBody>
      </p:sp>
      <p:sp>
        <p:nvSpPr>
          <p:cNvPr id="15" name="Text 9"/>
          <p:cNvSpPr/>
          <p:nvPr/>
        </p:nvSpPr>
        <p:spPr>
          <a:xfrm>
            <a:off x="8307348" y="6449378"/>
            <a:ext cx="5529263" cy="1088708"/>
          </a:xfrm>
          <a:prstGeom prst="rect">
            <a:avLst/>
          </a:prstGeom>
          <a:noFill/>
          <a:ln/>
        </p:spPr>
        <p:txBody>
          <a:bodyPr wrap="squar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AI assists in reviewing code for best practices and summarising complex sections for quick understanding.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43970" y="633770"/>
            <a:ext cx="2542461" cy="317659"/>
          </a:xfrm>
          <a:prstGeom prst="rect">
            <a:avLst/>
          </a:prstGeom>
          <a:noFill/>
          <a:ln/>
        </p:spPr>
        <p:txBody>
          <a:bodyPr wrap="none" lIns="0" tIns="0" rIns="0" bIns="0" rtlCol="0" anchor="t"/>
          <a:lstStyle/>
          <a:p>
            <a:pPr algn="ctr" indent="0" marL="0">
              <a:lnSpc>
                <a:spcPts val="2500"/>
              </a:lnSpc>
              <a:buNone/>
            </a:pPr>
            <a:r>
              <a:rPr lang="en-US" sz="2000" dirty="0">
                <a:solidFill>
                  <a:srgbClr val="1B1B27"/>
                </a:solidFill>
                <a:latin typeface="Raleway" pitchFamily="34" charset="0"/>
                <a:ea typeface="Raleway" pitchFamily="34" charset="-122"/>
                <a:cs typeface="Raleway" pitchFamily="34" charset="-120"/>
              </a:rPr>
              <a:t>Chapter 3</a:t>
            </a:r>
            <a:endParaRPr lang="en-US" sz="2000" dirty="0"/>
          </a:p>
        </p:txBody>
      </p:sp>
      <p:sp>
        <p:nvSpPr>
          <p:cNvPr id="3" name="Text 1"/>
          <p:cNvSpPr/>
          <p:nvPr/>
        </p:nvSpPr>
        <p:spPr>
          <a:xfrm>
            <a:off x="4158258" y="1154787"/>
            <a:ext cx="6313884" cy="635556"/>
          </a:xfrm>
          <a:prstGeom prst="rect">
            <a:avLst/>
          </a:prstGeom>
          <a:noFill/>
          <a:ln/>
        </p:spPr>
        <p:txBody>
          <a:bodyPr wrap="none" lIns="0" tIns="0" rIns="0" bIns="0" rtlCol="0" anchor="t"/>
          <a:lstStyle/>
          <a:p>
            <a:pPr algn="ctr" indent="0" marL="0">
              <a:lnSpc>
                <a:spcPts val="5000"/>
              </a:lnSpc>
              <a:buNone/>
            </a:pPr>
            <a:r>
              <a:rPr lang="en-US" sz="4000" dirty="0">
                <a:solidFill>
                  <a:srgbClr val="1B1B27"/>
                </a:solidFill>
                <a:latin typeface="Raleway" pitchFamily="34" charset="0"/>
                <a:ea typeface="Raleway" pitchFamily="34" charset="-122"/>
                <a:cs typeface="Raleway" pitchFamily="34" charset="-120"/>
              </a:rPr>
              <a:t>Prompt Engineering Basics</a:t>
            </a:r>
            <a:endParaRPr lang="en-US" sz="4000" dirty="0"/>
          </a:p>
        </p:txBody>
      </p:sp>
      <p:sp>
        <p:nvSpPr>
          <p:cNvPr id="4" name="Text 2"/>
          <p:cNvSpPr/>
          <p:nvPr/>
        </p:nvSpPr>
        <p:spPr>
          <a:xfrm>
            <a:off x="711875" y="2095381"/>
            <a:ext cx="13206651" cy="325279"/>
          </a:xfrm>
          <a:prstGeom prst="rect">
            <a:avLst/>
          </a:prstGeom>
          <a:noFill/>
          <a:ln/>
        </p:spPr>
        <p:txBody>
          <a:bodyPr wrap="none" lIns="0" tIns="0" rIns="0" bIns="0" rtlCol="0" anchor="t"/>
          <a:lstStyle/>
          <a:p>
            <a:pPr algn="l" indent="0" marL="0">
              <a:lnSpc>
                <a:spcPts val="2550"/>
              </a:lnSpc>
              <a:buNone/>
            </a:pPr>
            <a:r>
              <a:rPr lang="en-US" sz="1600" dirty="0">
                <a:solidFill>
                  <a:srgbClr val="3C3939"/>
                </a:solidFill>
                <a:latin typeface="Roboto" pitchFamily="34" charset="0"/>
                <a:ea typeface="Roboto" pitchFamily="34" charset="-122"/>
                <a:cs typeface="Roboto" pitchFamily="34" charset="-120"/>
              </a:rPr>
              <a:t>Prompt engineering is the art of crafting effective inputs to guide Generative AI models towards desired outputs.</a:t>
            </a:r>
            <a:endParaRPr lang="en-US" sz="1600" dirty="0"/>
          </a:p>
        </p:txBody>
      </p:sp>
      <p:pic>
        <p:nvPicPr>
          <p:cNvPr id="5" name="Image 0" descr="preencoded.png">    </p:cNvPr>
          <p:cNvPicPr>
            <a:picLocks noChangeAspect="1"/>
          </p:cNvPicPr>
          <p:nvPr/>
        </p:nvPicPr>
        <p:blipFill>
          <a:blip r:embed="rId1"/>
          <a:stretch>
            <a:fillRect/>
          </a:stretch>
        </p:blipFill>
        <p:spPr>
          <a:xfrm>
            <a:off x="711875" y="2649379"/>
            <a:ext cx="6603325" cy="813554"/>
          </a:xfrm>
          <a:prstGeom prst="rect">
            <a:avLst/>
          </a:prstGeom>
        </p:spPr>
      </p:pic>
      <p:sp>
        <p:nvSpPr>
          <p:cNvPr id="6" name="Text 3"/>
          <p:cNvSpPr/>
          <p:nvPr/>
        </p:nvSpPr>
        <p:spPr>
          <a:xfrm>
            <a:off x="915233" y="3666292"/>
            <a:ext cx="2991207" cy="317659"/>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The Anatomy of a Prompt</a:t>
            </a:r>
            <a:endParaRPr lang="en-US" sz="2000" dirty="0"/>
          </a:p>
        </p:txBody>
      </p:sp>
      <p:sp>
        <p:nvSpPr>
          <p:cNvPr id="7" name="Text 4"/>
          <p:cNvSpPr/>
          <p:nvPr/>
        </p:nvSpPr>
        <p:spPr>
          <a:xfrm>
            <a:off x="915233" y="4105989"/>
            <a:ext cx="6196608" cy="650558"/>
          </a:xfrm>
          <a:prstGeom prst="rect">
            <a:avLst/>
          </a:prstGeom>
          <a:noFill/>
          <a:ln/>
        </p:spPr>
        <p:txBody>
          <a:bodyPr wrap="square" lIns="0" tIns="0" rIns="0" bIns="0" rtlCol="0" anchor="t"/>
          <a:lstStyle/>
          <a:p>
            <a:pPr algn="l" indent="0" marL="0">
              <a:lnSpc>
                <a:spcPts val="2550"/>
              </a:lnSpc>
              <a:buNone/>
            </a:pPr>
            <a:r>
              <a:rPr lang="en-US" sz="1600" dirty="0">
                <a:solidFill>
                  <a:srgbClr val="3C3939"/>
                </a:solidFill>
                <a:latin typeface="Roboto" pitchFamily="34" charset="0"/>
                <a:ea typeface="Roboto" pitchFamily="34" charset="-122"/>
                <a:cs typeface="Roboto" pitchFamily="34" charset="-120"/>
              </a:rPr>
              <a:t>A prompt includes instructions, context, input data, and desired output format. Clear, concise prompts yield better results.</a:t>
            </a:r>
            <a:endParaRPr lang="en-US" sz="1600" dirty="0"/>
          </a:p>
        </p:txBody>
      </p:sp>
      <p:pic>
        <p:nvPicPr>
          <p:cNvPr id="8" name="Image 1" descr="preencoded.png">    </p:cNvPr>
          <p:cNvPicPr>
            <a:picLocks noChangeAspect="1"/>
          </p:cNvPicPr>
          <p:nvPr/>
        </p:nvPicPr>
        <p:blipFill>
          <a:blip r:embed="rId2"/>
          <a:stretch>
            <a:fillRect/>
          </a:stretch>
        </p:blipFill>
        <p:spPr>
          <a:xfrm>
            <a:off x="7315200" y="2649379"/>
            <a:ext cx="6603325" cy="813554"/>
          </a:xfrm>
          <a:prstGeom prst="rect">
            <a:avLst/>
          </a:prstGeom>
        </p:spPr>
      </p:pic>
      <p:sp>
        <p:nvSpPr>
          <p:cNvPr id="9" name="Text 5"/>
          <p:cNvSpPr/>
          <p:nvPr/>
        </p:nvSpPr>
        <p:spPr>
          <a:xfrm>
            <a:off x="7518559" y="3666292"/>
            <a:ext cx="3185874" cy="317659"/>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Context, Tone &amp; Formatting</a:t>
            </a:r>
            <a:endParaRPr lang="en-US" sz="2000" dirty="0"/>
          </a:p>
        </p:txBody>
      </p:sp>
      <p:sp>
        <p:nvSpPr>
          <p:cNvPr id="10" name="Text 6"/>
          <p:cNvSpPr/>
          <p:nvPr/>
        </p:nvSpPr>
        <p:spPr>
          <a:xfrm>
            <a:off x="7518559" y="4105989"/>
            <a:ext cx="6196608" cy="975836"/>
          </a:xfrm>
          <a:prstGeom prst="rect">
            <a:avLst/>
          </a:prstGeom>
          <a:noFill/>
          <a:ln/>
        </p:spPr>
        <p:txBody>
          <a:bodyPr wrap="square" lIns="0" tIns="0" rIns="0" bIns="0" rtlCol="0" anchor="t"/>
          <a:lstStyle/>
          <a:p>
            <a:pPr algn="l" indent="0" marL="0">
              <a:lnSpc>
                <a:spcPts val="2550"/>
              </a:lnSpc>
              <a:buNone/>
            </a:pPr>
            <a:r>
              <a:rPr lang="en-US" sz="1600" dirty="0">
                <a:solidFill>
                  <a:srgbClr val="3C3939"/>
                </a:solidFill>
                <a:latin typeface="Roboto" pitchFamily="34" charset="0"/>
                <a:ea typeface="Roboto" pitchFamily="34" charset="-122"/>
                <a:cs typeface="Roboto" pitchFamily="34" charset="-120"/>
              </a:rPr>
              <a:t>Providing relevant context (e.g., code snippets), specifying the tone (e.g., formal, conversational), and enforcing formatting (e.g., JSON, markdown) significantly improves output quality.</a:t>
            </a:r>
            <a:endParaRPr lang="en-US" sz="1600" dirty="0"/>
          </a:p>
        </p:txBody>
      </p:sp>
      <p:pic>
        <p:nvPicPr>
          <p:cNvPr id="11" name="Image 2" descr="preencoded.png">    </p:cNvPr>
          <p:cNvPicPr>
            <a:picLocks noChangeAspect="1"/>
          </p:cNvPicPr>
          <p:nvPr/>
        </p:nvPicPr>
        <p:blipFill>
          <a:blip r:embed="rId3"/>
          <a:stretch>
            <a:fillRect/>
          </a:stretch>
        </p:blipFill>
        <p:spPr>
          <a:xfrm>
            <a:off x="711875" y="5285184"/>
            <a:ext cx="6603325" cy="813554"/>
          </a:xfrm>
          <a:prstGeom prst="rect">
            <a:avLst/>
          </a:prstGeom>
        </p:spPr>
      </p:pic>
      <p:sp>
        <p:nvSpPr>
          <p:cNvPr id="12" name="Text 7"/>
          <p:cNvSpPr/>
          <p:nvPr/>
        </p:nvSpPr>
        <p:spPr>
          <a:xfrm>
            <a:off x="915233" y="6302097"/>
            <a:ext cx="2682835" cy="317659"/>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Few-shot vs. Zero-shot</a:t>
            </a:r>
            <a:endParaRPr lang="en-US" sz="2000" dirty="0"/>
          </a:p>
        </p:txBody>
      </p:sp>
      <p:sp>
        <p:nvSpPr>
          <p:cNvPr id="13" name="Text 8"/>
          <p:cNvSpPr/>
          <p:nvPr/>
        </p:nvSpPr>
        <p:spPr>
          <a:xfrm>
            <a:off x="915233" y="6741795"/>
            <a:ext cx="6196608" cy="650558"/>
          </a:xfrm>
          <a:prstGeom prst="rect">
            <a:avLst/>
          </a:prstGeom>
          <a:noFill/>
          <a:ln/>
        </p:spPr>
        <p:txBody>
          <a:bodyPr wrap="square" lIns="0" tIns="0" rIns="0" bIns="0" rtlCol="0" anchor="t"/>
          <a:lstStyle/>
          <a:p>
            <a:pPr algn="l" indent="0" marL="0">
              <a:lnSpc>
                <a:spcPts val="2550"/>
              </a:lnSpc>
              <a:buNone/>
            </a:pPr>
            <a:r>
              <a:rPr lang="en-US" sz="1600" dirty="0">
                <a:solidFill>
                  <a:srgbClr val="3C3939"/>
                </a:solidFill>
                <a:latin typeface="Roboto" pitchFamily="34" charset="0"/>
                <a:ea typeface="Roboto" pitchFamily="34" charset="-122"/>
                <a:cs typeface="Roboto" pitchFamily="34" charset="-120"/>
              </a:rPr>
              <a:t>Zero-shot prompting provides no examples. Few-shot includes examples in the prompt, guiding the model with demonstrations.</a:t>
            </a:r>
            <a:endParaRPr lang="en-US" sz="1600" dirty="0"/>
          </a:p>
        </p:txBody>
      </p:sp>
      <p:pic>
        <p:nvPicPr>
          <p:cNvPr id="14" name="Image 3" descr="preencoded.png">    </p:cNvPr>
          <p:cNvPicPr>
            <a:picLocks noChangeAspect="1"/>
          </p:cNvPicPr>
          <p:nvPr/>
        </p:nvPicPr>
        <p:blipFill>
          <a:blip r:embed="rId4"/>
          <a:stretch>
            <a:fillRect/>
          </a:stretch>
        </p:blipFill>
        <p:spPr>
          <a:xfrm>
            <a:off x="7315200" y="5285184"/>
            <a:ext cx="6603325" cy="813554"/>
          </a:xfrm>
          <a:prstGeom prst="rect">
            <a:avLst/>
          </a:prstGeom>
        </p:spPr>
      </p:pic>
      <p:sp>
        <p:nvSpPr>
          <p:cNvPr id="15" name="Text 9"/>
          <p:cNvSpPr/>
          <p:nvPr/>
        </p:nvSpPr>
        <p:spPr>
          <a:xfrm>
            <a:off x="7518559" y="6302097"/>
            <a:ext cx="2542461" cy="317659"/>
          </a:xfrm>
          <a:prstGeom prst="rect">
            <a:avLst/>
          </a:prstGeom>
          <a:noFill/>
          <a:ln/>
        </p:spPr>
        <p:txBody>
          <a:bodyPr wrap="none" lIns="0" tIns="0" rIns="0" bIns="0" rtlCol="0" anchor="t"/>
          <a:lstStyle/>
          <a:p>
            <a:pPr algn="l" indent="0" marL="0">
              <a:lnSpc>
                <a:spcPts val="2500"/>
              </a:lnSpc>
              <a:buNone/>
            </a:pPr>
            <a:r>
              <a:rPr lang="en-US" sz="2000" dirty="0">
                <a:solidFill>
                  <a:srgbClr val="3C3939"/>
                </a:solidFill>
                <a:latin typeface="Raleway" pitchFamily="34" charset="0"/>
                <a:ea typeface="Raleway" pitchFamily="34" charset="-122"/>
                <a:cs typeface="Raleway" pitchFamily="34" charset="-120"/>
              </a:rPr>
              <a:t>Iterative Refinement</a:t>
            </a:r>
            <a:endParaRPr lang="en-US" sz="2000" dirty="0"/>
          </a:p>
        </p:txBody>
      </p:sp>
      <p:sp>
        <p:nvSpPr>
          <p:cNvPr id="16" name="Text 10"/>
          <p:cNvSpPr/>
          <p:nvPr/>
        </p:nvSpPr>
        <p:spPr>
          <a:xfrm>
            <a:off x="7518559" y="6741795"/>
            <a:ext cx="6196608" cy="650558"/>
          </a:xfrm>
          <a:prstGeom prst="rect">
            <a:avLst/>
          </a:prstGeom>
          <a:noFill/>
          <a:ln/>
        </p:spPr>
        <p:txBody>
          <a:bodyPr wrap="square" lIns="0" tIns="0" rIns="0" bIns="0" rtlCol="0" anchor="t"/>
          <a:lstStyle/>
          <a:p>
            <a:pPr algn="l" indent="0" marL="0">
              <a:lnSpc>
                <a:spcPts val="2550"/>
              </a:lnSpc>
              <a:buNone/>
            </a:pPr>
            <a:r>
              <a:rPr lang="en-US" sz="1600" dirty="0">
                <a:solidFill>
                  <a:srgbClr val="3C3939"/>
                </a:solidFill>
                <a:latin typeface="Roboto" pitchFamily="34" charset="0"/>
                <a:ea typeface="Roboto" pitchFamily="34" charset="-122"/>
                <a:cs typeface="Roboto" pitchFamily="34" charset="-120"/>
              </a:rPr>
              <a:t>Prompt engineering is iterative: test, analyse output, refine prompt. Tools like ChatGPT and PromptHero aid this process.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45788"/>
            <a:ext cx="13042821" cy="1417558"/>
          </a:xfrm>
          <a:prstGeom prst="rect">
            <a:avLst/>
          </a:prstGeom>
          <a:noFill/>
          <a:ln/>
        </p:spPr>
        <p:txBody>
          <a:bodyPr wrap="square" lIns="0" tIns="0" rIns="0" bIns="0" rtlCol="0" anchor="t"/>
          <a:lstStyle/>
          <a:p>
            <a:pPr algn="ctr" indent="0" marL="0">
              <a:lnSpc>
                <a:spcPts val="5550"/>
              </a:lnSpc>
              <a:buNone/>
            </a:pPr>
            <a:r>
              <a:rPr lang="en-US" sz="4450" dirty="0">
                <a:solidFill>
                  <a:srgbClr val="1B1B27"/>
                </a:solidFill>
                <a:latin typeface="Raleway" pitchFamily="34" charset="0"/>
                <a:ea typeface="Raleway" pitchFamily="34" charset="-122"/>
                <a:cs typeface="Raleway" pitchFamily="34" charset="-120"/>
              </a:rPr>
              <a:t>Popular Generative AI Tools for Software Engineers</a:t>
            </a:r>
            <a:endParaRPr lang="en-US" sz="4450" dirty="0"/>
          </a:p>
        </p:txBody>
      </p:sp>
      <p:sp>
        <p:nvSpPr>
          <p:cNvPr id="3" name="Shape 1"/>
          <p:cNvSpPr/>
          <p:nvPr/>
        </p:nvSpPr>
        <p:spPr>
          <a:xfrm>
            <a:off x="793790" y="3416975"/>
            <a:ext cx="13042821" cy="3266837"/>
          </a:xfrm>
          <a:prstGeom prst="roundRect">
            <a:avLst>
              <a:gd name="adj" fmla="val 2916"/>
            </a:avLst>
          </a:prstGeom>
          <a:noFill/>
          <a:ln w="7620">
            <a:solidFill>
              <a:srgbClr val="000000">
                <a:alpha val="8000"/>
              </a:srgbClr>
            </a:solidFill>
            <a:prstDash val="solid"/>
          </a:ln>
        </p:spPr>
      </p:sp>
      <p:sp>
        <p:nvSpPr>
          <p:cNvPr id="4" name="Shape 2"/>
          <p:cNvSpPr/>
          <p:nvPr/>
        </p:nvSpPr>
        <p:spPr>
          <a:xfrm>
            <a:off x="801410" y="3424595"/>
            <a:ext cx="13027581" cy="650319"/>
          </a:xfrm>
          <a:prstGeom prst="rect">
            <a:avLst/>
          </a:prstGeom>
          <a:solidFill>
            <a:srgbClr val="FFFFFF">
              <a:alpha val="4000"/>
            </a:srgbClr>
          </a:solidFill>
          <a:ln/>
        </p:spPr>
      </p:sp>
      <p:sp>
        <p:nvSpPr>
          <p:cNvPr id="5" name="Text 3"/>
          <p:cNvSpPr/>
          <p:nvPr/>
        </p:nvSpPr>
        <p:spPr>
          <a:xfrm>
            <a:off x="1028343" y="356830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GitHub Copilot</a:t>
            </a:r>
            <a:endParaRPr lang="en-US" sz="1750" dirty="0"/>
          </a:p>
        </p:txBody>
      </p:sp>
      <p:sp>
        <p:nvSpPr>
          <p:cNvPr id="6" name="Text 4"/>
          <p:cNvSpPr/>
          <p:nvPr/>
        </p:nvSpPr>
        <p:spPr>
          <a:xfrm>
            <a:off x="4288988" y="3568303"/>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Code completion, test generation</a:t>
            </a:r>
            <a:endParaRPr lang="en-US" sz="1750" dirty="0"/>
          </a:p>
        </p:txBody>
      </p:sp>
      <p:sp>
        <p:nvSpPr>
          <p:cNvPr id="7" name="Text 5"/>
          <p:cNvSpPr/>
          <p:nvPr/>
        </p:nvSpPr>
        <p:spPr>
          <a:xfrm>
            <a:off x="9499997" y="356830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Best for day-to-day coding</a:t>
            </a:r>
            <a:endParaRPr lang="en-US" sz="1750" dirty="0"/>
          </a:p>
        </p:txBody>
      </p:sp>
      <p:sp>
        <p:nvSpPr>
          <p:cNvPr id="8" name="Shape 6"/>
          <p:cNvSpPr/>
          <p:nvPr/>
        </p:nvSpPr>
        <p:spPr>
          <a:xfrm>
            <a:off x="801410" y="4074914"/>
            <a:ext cx="13027581" cy="650319"/>
          </a:xfrm>
          <a:prstGeom prst="rect">
            <a:avLst/>
          </a:prstGeom>
          <a:solidFill>
            <a:srgbClr val="000000">
              <a:alpha val="4000"/>
            </a:srgbClr>
          </a:solidFill>
          <a:ln/>
        </p:spPr>
      </p:sp>
      <p:sp>
        <p:nvSpPr>
          <p:cNvPr id="9" name="Text 7"/>
          <p:cNvSpPr/>
          <p:nvPr/>
        </p:nvSpPr>
        <p:spPr>
          <a:xfrm>
            <a:off x="1028343" y="421862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ChatGPT (GPT-4)</a:t>
            </a:r>
            <a:endParaRPr lang="en-US" sz="1750" dirty="0"/>
          </a:p>
        </p:txBody>
      </p:sp>
      <p:sp>
        <p:nvSpPr>
          <p:cNvPr id="10" name="Text 8"/>
          <p:cNvSpPr/>
          <p:nvPr/>
        </p:nvSpPr>
        <p:spPr>
          <a:xfrm>
            <a:off x="4288988" y="4218623"/>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Documentation, debugging, ChatOps</a:t>
            </a:r>
            <a:endParaRPr lang="en-US" sz="1750" dirty="0"/>
          </a:p>
        </p:txBody>
      </p:sp>
      <p:sp>
        <p:nvSpPr>
          <p:cNvPr id="11" name="Text 9"/>
          <p:cNvSpPr/>
          <p:nvPr/>
        </p:nvSpPr>
        <p:spPr>
          <a:xfrm>
            <a:off x="9499997" y="4218623"/>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Flexible, integrates with workflows</a:t>
            </a:r>
            <a:endParaRPr lang="en-US" sz="1750" dirty="0"/>
          </a:p>
        </p:txBody>
      </p:sp>
      <p:sp>
        <p:nvSpPr>
          <p:cNvPr id="12" name="Shape 10"/>
          <p:cNvSpPr/>
          <p:nvPr/>
        </p:nvSpPr>
        <p:spPr>
          <a:xfrm>
            <a:off x="801410" y="4725233"/>
            <a:ext cx="13027581" cy="650319"/>
          </a:xfrm>
          <a:prstGeom prst="rect">
            <a:avLst/>
          </a:prstGeom>
          <a:solidFill>
            <a:srgbClr val="FFFFFF">
              <a:alpha val="4000"/>
            </a:srgbClr>
          </a:solidFill>
          <a:ln/>
        </p:spPr>
      </p:sp>
      <p:sp>
        <p:nvSpPr>
          <p:cNvPr id="13" name="Text 11"/>
          <p:cNvSpPr/>
          <p:nvPr/>
        </p:nvSpPr>
        <p:spPr>
          <a:xfrm>
            <a:off x="1028343" y="486894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TabNine</a:t>
            </a:r>
            <a:endParaRPr lang="en-US" sz="1750" dirty="0"/>
          </a:p>
        </p:txBody>
      </p:sp>
      <p:sp>
        <p:nvSpPr>
          <p:cNvPr id="14" name="Text 12"/>
          <p:cNvSpPr/>
          <p:nvPr/>
        </p:nvSpPr>
        <p:spPr>
          <a:xfrm>
            <a:off x="4288988" y="4868942"/>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Lightweight code suggestions</a:t>
            </a:r>
            <a:endParaRPr lang="en-US" sz="1750" dirty="0"/>
          </a:p>
        </p:txBody>
      </p:sp>
      <p:sp>
        <p:nvSpPr>
          <p:cNvPr id="15" name="Text 13"/>
          <p:cNvSpPr/>
          <p:nvPr/>
        </p:nvSpPr>
        <p:spPr>
          <a:xfrm>
            <a:off x="9499997" y="4868942"/>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Good for offline/local use</a:t>
            </a:r>
            <a:endParaRPr lang="en-US" sz="1750" dirty="0"/>
          </a:p>
        </p:txBody>
      </p:sp>
      <p:sp>
        <p:nvSpPr>
          <p:cNvPr id="16" name="Shape 14"/>
          <p:cNvSpPr/>
          <p:nvPr/>
        </p:nvSpPr>
        <p:spPr>
          <a:xfrm>
            <a:off x="801410" y="5375553"/>
            <a:ext cx="13027581" cy="650319"/>
          </a:xfrm>
          <a:prstGeom prst="rect">
            <a:avLst/>
          </a:prstGeom>
          <a:solidFill>
            <a:srgbClr val="000000">
              <a:alpha val="4000"/>
            </a:srgbClr>
          </a:solidFill>
          <a:ln/>
        </p:spPr>
      </p:sp>
      <p:sp>
        <p:nvSpPr>
          <p:cNvPr id="17" name="Text 15"/>
          <p:cNvSpPr/>
          <p:nvPr/>
        </p:nvSpPr>
        <p:spPr>
          <a:xfrm>
            <a:off x="1028343" y="5519261"/>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Amazon CodeWhisperer</a:t>
            </a:r>
            <a:endParaRPr lang="en-US" sz="1750" dirty="0"/>
          </a:p>
        </p:txBody>
      </p:sp>
      <p:sp>
        <p:nvSpPr>
          <p:cNvPr id="18" name="Text 16"/>
          <p:cNvSpPr/>
          <p:nvPr/>
        </p:nvSpPr>
        <p:spPr>
          <a:xfrm>
            <a:off x="4288988" y="5519261"/>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AWS-focused coding help</a:t>
            </a:r>
            <a:endParaRPr lang="en-US" sz="1750" dirty="0"/>
          </a:p>
        </p:txBody>
      </p:sp>
      <p:sp>
        <p:nvSpPr>
          <p:cNvPr id="19" name="Text 17"/>
          <p:cNvSpPr/>
          <p:nvPr/>
        </p:nvSpPr>
        <p:spPr>
          <a:xfrm>
            <a:off x="9499997" y="5519261"/>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Great with cloud SDKs</a:t>
            </a:r>
            <a:endParaRPr lang="en-US" sz="1750" dirty="0"/>
          </a:p>
        </p:txBody>
      </p:sp>
      <p:sp>
        <p:nvSpPr>
          <p:cNvPr id="20" name="Shape 18"/>
          <p:cNvSpPr/>
          <p:nvPr/>
        </p:nvSpPr>
        <p:spPr>
          <a:xfrm>
            <a:off x="801410" y="6025872"/>
            <a:ext cx="13027581" cy="650319"/>
          </a:xfrm>
          <a:prstGeom prst="rect">
            <a:avLst/>
          </a:prstGeom>
          <a:solidFill>
            <a:srgbClr val="FFFFFF">
              <a:alpha val="4000"/>
            </a:srgbClr>
          </a:solidFill>
          <a:ln/>
        </p:spPr>
      </p:sp>
      <p:sp>
        <p:nvSpPr>
          <p:cNvPr id="21" name="Text 19"/>
          <p:cNvSpPr/>
          <p:nvPr/>
        </p:nvSpPr>
        <p:spPr>
          <a:xfrm>
            <a:off x="1028343" y="6169581"/>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Cody (Sourcegraph)</a:t>
            </a:r>
            <a:endParaRPr lang="en-US" sz="1750" dirty="0"/>
          </a:p>
        </p:txBody>
      </p:sp>
      <p:sp>
        <p:nvSpPr>
          <p:cNvPr id="22" name="Text 20"/>
          <p:cNvSpPr/>
          <p:nvPr/>
        </p:nvSpPr>
        <p:spPr>
          <a:xfrm>
            <a:off x="4288988" y="6169581"/>
            <a:ext cx="4749760"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Code context-aware assistance</a:t>
            </a:r>
            <a:endParaRPr lang="en-US" sz="1750" dirty="0"/>
          </a:p>
        </p:txBody>
      </p:sp>
      <p:sp>
        <p:nvSpPr>
          <p:cNvPr id="23" name="Text 21"/>
          <p:cNvSpPr/>
          <p:nvPr/>
        </p:nvSpPr>
        <p:spPr>
          <a:xfrm>
            <a:off x="9499997" y="6169581"/>
            <a:ext cx="4102179" cy="362903"/>
          </a:xfrm>
          <a:prstGeom prst="rect">
            <a:avLst/>
          </a:prstGeom>
          <a:noFill/>
          <a:ln/>
        </p:spPr>
        <p:txBody>
          <a:bodyPr wrap="none" lIns="0" tIns="0" rIns="0" bIns="0" rtlCol="0" anchor="t"/>
          <a:lstStyle/>
          <a:p>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Reads large codebases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362444" y="618053"/>
            <a:ext cx="7905393" cy="702231"/>
          </a:xfrm>
          <a:prstGeom prst="rect">
            <a:avLst/>
          </a:prstGeom>
          <a:noFill/>
          <a:ln/>
        </p:spPr>
        <p:txBody>
          <a:bodyPr wrap="none" lIns="0" tIns="0" rIns="0" bIns="0" rtlCol="0" anchor="t"/>
          <a:lstStyle/>
          <a:p>
            <a:pPr algn="ctr" indent="0" marL="0">
              <a:lnSpc>
                <a:spcPts val="5500"/>
              </a:lnSpc>
              <a:buNone/>
            </a:pPr>
            <a:r>
              <a:rPr lang="en-US" sz="4400" dirty="0">
                <a:solidFill>
                  <a:srgbClr val="1B1B27"/>
                </a:solidFill>
                <a:latin typeface="Raleway" pitchFamily="34" charset="0"/>
                <a:ea typeface="Raleway" pitchFamily="34" charset="-122"/>
                <a:cs typeface="Raleway" pitchFamily="34" charset="-120"/>
              </a:rPr>
              <a:t>Generative AI Across the SDLC</a:t>
            </a:r>
            <a:endParaRPr lang="en-US" sz="4400" dirty="0"/>
          </a:p>
        </p:txBody>
      </p:sp>
      <p:pic>
        <p:nvPicPr>
          <p:cNvPr id="3" name="Image 0" descr="preencoded.png">    </p:cNvPr>
          <p:cNvPicPr>
            <a:picLocks noChangeAspect="1"/>
          </p:cNvPicPr>
          <p:nvPr/>
        </p:nvPicPr>
        <p:blipFill>
          <a:blip r:embed="rId1"/>
          <a:stretch>
            <a:fillRect/>
          </a:stretch>
        </p:blipFill>
        <p:spPr>
          <a:xfrm>
            <a:off x="786527" y="1769745"/>
            <a:ext cx="13057346" cy="5903476"/>
          </a:xfrm>
          <a:prstGeom prst="rect">
            <a:avLst/>
          </a:prstGeom>
        </p:spPr>
      </p:pic>
      <p:sp>
        <p:nvSpPr>
          <p:cNvPr id="4" name="Text 1"/>
          <p:cNvSpPr/>
          <p:nvPr/>
        </p:nvSpPr>
        <p:spPr>
          <a:xfrm>
            <a:off x="1897321" y="6399461"/>
            <a:ext cx="2912638" cy="364080"/>
          </a:xfrm>
          <a:prstGeom prst="rect">
            <a:avLst/>
          </a:prstGeom>
          <a:noFill/>
          <a:ln/>
        </p:spPr>
        <p:txBody>
          <a:bodyPr wrap="none" lIns="0" tIns="0" rIns="0" bIns="0" rtlCol="0" anchor="t"/>
          <a:lstStyle/>
          <a:p>
            <a:pPr algn="l" indent="0" marL="0">
              <a:lnSpc>
                <a:spcPts val="1650"/>
              </a:lnSpc>
              <a:buNone/>
            </a:pPr>
            <a:r>
              <a:rPr lang="en-US" sz="1350" dirty="0">
                <a:solidFill>
                  <a:srgbClr val="3C3939"/>
                </a:solidFill>
                <a:latin typeface="Raleway" pitchFamily="34" charset="0"/>
                <a:ea typeface="Raleway" pitchFamily="34" charset="-122"/>
                <a:cs typeface="Raleway" pitchFamily="34" charset="-120"/>
              </a:rPr>
              <a:t>Testing &amp; Monitoring</a:t>
            </a:r>
            <a:endParaRPr lang="en-US" sz="1350" dirty="0"/>
          </a:p>
        </p:txBody>
      </p:sp>
      <p:sp>
        <p:nvSpPr>
          <p:cNvPr id="5" name="Text 2"/>
          <p:cNvSpPr/>
          <p:nvPr/>
        </p:nvSpPr>
        <p:spPr>
          <a:xfrm>
            <a:off x="1897321" y="6867101"/>
            <a:ext cx="4440155" cy="582528"/>
          </a:xfrm>
          <a:prstGeom prst="rect">
            <a:avLst/>
          </a:prstGeom>
          <a:noFill/>
          <a:ln/>
        </p:spPr>
        <p:txBody>
          <a:bodyPr wrap="square" lIns="0" tIns="0" rIns="0" bIns="0" rtlCol="0" anchor="t"/>
          <a:lstStyle/>
          <a:p>
            <a:pPr algn="l" indent="0" marL="0">
              <a:lnSpc>
                <a:spcPts val="1350"/>
              </a:lnSpc>
              <a:buNone/>
            </a:pPr>
            <a:r>
              <a:rPr lang="en-US" sz="1050" dirty="0">
                <a:solidFill>
                  <a:srgbClr val="3C3939"/>
                </a:solidFill>
                <a:latin typeface="Roboto" pitchFamily="34" charset="0"/>
                <a:ea typeface="Roboto" pitchFamily="34" charset="-122"/>
                <a:cs typeface="Roboto" pitchFamily="34" charset="-120"/>
              </a:rPr>
              <a:t>AI automates tests and tracks performance.</a:t>
            </a:r>
            <a:endParaRPr lang="en-US" sz="1050" dirty="0"/>
          </a:p>
        </p:txBody>
      </p:sp>
      <p:pic>
        <p:nvPicPr>
          <p:cNvPr id="6" name="Image 1" descr="preencoded.png">    </p:cNvPr>
          <p:cNvPicPr>
            <a:picLocks noChangeAspect="1"/>
          </p:cNvPicPr>
          <p:nvPr/>
        </p:nvPicPr>
        <p:blipFill>
          <a:blip r:embed="rId2"/>
          <a:stretch>
            <a:fillRect/>
          </a:stretch>
        </p:blipFill>
        <p:spPr>
          <a:xfrm>
            <a:off x="1178870" y="6399461"/>
            <a:ext cx="237259" cy="237259"/>
          </a:xfrm>
          <a:prstGeom prst="rect">
            <a:avLst/>
          </a:prstGeom>
        </p:spPr>
      </p:pic>
      <p:sp>
        <p:nvSpPr>
          <p:cNvPr id="7" name="Text 3"/>
          <p:cNvSpPr/>
          <p:nvPr/>
        </p:nvSpPr>
        <p:spPr>
          <a:xfrm>
            <a:off x="1897321" y="4988450"/>
            <a:ext cx="2912638" cy="364079"/>
          </a:xfrm>
          <a:prstGeom prst="rect">
            <a:avLst/>
          </a:prstGeom>
          <a:noFill/>
          <a:ln/>
        </p:spPr>
        <p:txBody>
          <a:bodyPr wrap="none" lIns="0" tIns="0" rIns="0" bIns="0" rtlCol="0" anchor="t"/>
          <a:lstStyle/>
          <a:p>
            <a:pPr algn="l" indent="0" marL="0">
              <a:lnSpc>
                <a:spcPts val="1650"/>
              </a:lnSpc>
              <a:buNone/>
            </a:pPr>
            <a:r>
              <a:rPr lang="en-US" sz="1350" dirty="0">
                <a:solidFill>
                  <a:srgbClr val="3C3939"/>
                </a:solidFill>
                <a:latin typeface="Raleway" pitchFamily="34" charset="0"/>
                <a:ea typeface="Raleway" pitchFamily="34" charset="-122"/>
                <a:cs typeface="Raleway" pitchFamily="34" charset="-120"/>
              </a:rPr>
              <a:t>Development</a:t>
            </a:r>
            <a:endParaRPr lang="en-US" sz="1350" dirty="0"/>
          </a:p>
        </p:txBody>
      </p:sp>
      <p:sp>
        <p:nvSpPr>
          <p:cNvPr id="8" name="Text 4"/>
          <p:cNvSpPr/>
          <p:nvPr/>
        </p:nvSpPr>
        <p:spPr>
          <a:xfrm>
            <a:off x="1897321" y="5456090"/>
            <a:ext cx="4440155" cy="291264"/>
          </a:xfrm>
          <a:prstGeom prst="rect">
            <a:avLst/>
          </a:prstGeom>
          <a:noFill/>
          <a:ln/>
        </p:spPr>
        <p:txBody>
          <a:bodyPr wrap="none" lIns="0" tIns="0" rIns="0" bIns="0" rtlCol="0" anchor="t"/>
          <a:lstStyle/>
          <a:p>
            <a:pPr algn="l" indent="0" marL="0">
              <a:lnSpc>
                <a:spcPts val="1350"/>
              </a:lnSpc>
              <a:buNone/>
            </a:pPr>
            <a:r>
              <a:rPr lang="en-US" sz="1050" dirty="0">
                <a:solidFill>
                  <a:srgbClr val="3C3939"/>
                </a:solidFill>
                <a:latin typeface="Roboto" pitchFamily="34" charset="0"/>
                <a:ea typeface="Roboto" pitchFamily="34" charset="-122"/>
                <a:cs typeface="Roboto" pitchFamily="34" charset="-120"/>
              </a:rPr>
              <a:t>AI generates and reviews code efficiently.</a:t>
            </a:r>
            <a:endParaRPr lang="en-US" sz="1050" dirty="0"/>
          </a:p>
        </p:txBody>
      </p:sp>
      <p:pic>
        <p:nvPicPr>
          <p:cNvPr id="9" name="Image 2" descr="preencoded.png">    </p:cNvPr>
          <p:cNvPicPr>
            <a:picLocks noChangeAspect="1"/>
          </p:cNvPicPr>
          <p:nvPr/>
        </p:nvPicPr>
        <p:blipFill>
          <a:blip r:embed="rId3"/>
          <a:stretch>
            <a:fillRect/>
          </a:stretch>
        </p:blipFill>
        <p:spPr>
          <a:xfrm>
            <a:off x="1178870" y="4988450"/>
            <a:ext cx="237259" cy="237258"/>
          </a:xfrm>
          <a:prstGeom prst="rect">
            <a:avLst/>
          </a:prstGeom>
        </p:spPr>
      </p:pic>
      <p:sp>
        <p:nvSpPr>
          <p:cNvPr id="10" name="Text 5"/>
          <p:cNvSpPr/>
          <p:nvPr/>
        </p:nvSpPr>
        <p:spPr>
          <a:xfrm>
            <a:off x="1897321" y="3577438"/>
            <a:ext cx="2912638" cy="364080"/>
          </a:xfrm>
          <a:prstGeom prst="rect">
            <a:avLst/>
          </a:prstGeom>
          <a:noFill/>
          <a:ln/>
        </p:spPr>
        <p:txBody>
          <a:bodyPr wrap="none" lIns="0" tIns="0" rIns="0" bIns="0" rtlCol="0" anchor="t"/>
          <a:lstStyle/>
          <a:p>
            <a:pPr algn="l" indent="0" marL="0">
              <a:lnSpc>
                <a:spcPts val="1650"/>
              </a:lnSpc>
              <a:buNone/>
            </a:pPr>
            <a:r>
              <a:rPr lang="en-US" sz="1350" dirty="0">
                <a:solidFill>
                  <a:srgbClr val="3C3939"/>
                </a:solidFill>
                <a:latin typeface="Raleway" pitchFamily="34" charset="0"/>
                <a:ea typeface="Raleway" pitchFamily="34" charset="-122"/>
                <a:cs typeface="Raleway" pitchFamily="34" charset="-120"/>
              </a:rPr>
              <a:t>Design</a:t>
            </a:r>
            <a:endParaRPr lang="en-US" sz="1350" dirty="0"/>
          </a:p>
        </p:txBody>
      </p:sp>
      <p:sp>
        <p:nvSpPr>
          <p:cNvPr id="11" name="Text 6"/>
          <p:cNvSpPr/>
          <p:nvPr/>
        </p:nvSpPr>
        <p:spPr>
          <a:xfrm>
            <a:off x="1897321" y="4045079"/>
            <a:ext cx="4440155" cy="582527"/>
          </a:xfrm>
          <a:prstGeom prst="rect">
            <a:avLst/>
          </a:prstGeom>
          <a:noFill/>
          <a:ln/>
        </p:spPr>
        <p:txBody>
          <a:bodyPr wrap="square" lIns="0" tIns="0" rIns="0" bIns="0" rtlCol="0" anchor="t"/>
          <a:lstStyle/>
          <a:p>
            <a:pPr algn="l" indent="0" marL="0">
              <a:lnSpc>
                <a:spcPts val="1350"/>
              </a:lnSpc>
              <a:buNone/>
            </a:pPr>
            <a:r>
              <a:rPr lang="en-US" sz="1050" dirty="0">
                <a:solidFill>
                  <a:srgbClr val="3C3939"/>
                </a:solidFill>
                <a:latin typeface="Roboto" pitchFamily="34" charset="0"/>
                <a:ea typeface="Roboto" pitchFamily="34" charset="-122"/>
                <a:cs typeface="Roboto" pitchFamily="34" charset="-120"/>
              </a:rPr>
              <a:t>Generative AI proposes optimal architecture models.</a:t>
            </a:r>
            <a:endParaRPr lang="en-US" sz="1050" dirty="0"/>
          </a:p>
        </p:txBody>
      </p:sp>
      <p:pic>
        <p:nvPicPr>
          <p:cNvPr id="12" name="Image 3" descr="preencoded.png">    </p:cNvPr>
          <p:cNvPicPr>
            <a:picLocks noChangeAspect="1"/>
          </p:cNvPicPr>
          <p:nvPr/>
        </p:nvPicPr>
        <p:blipFill>
          <a:blip r:embed="rId4"/>
          <a:stretch>
            <a:fillRect/>
          </a:stretch>
        </p:blipFill>
        <p:spPr>
          <a:xfrm>
            <a:off x="1178870" y="3577438"/>
            <a:ext cx="237259" cy="237259"/>
          </a:xfrm>
          <a:prstGeom prst="rect">
            <a:avLst/>
          </a:prstGeom>
        </p:spPr>
      </p:pic>
      <p:sp>
        <p:nvSpPr>
          <p:cNvPr id="13" name="Text 7"/>
          <p:cNvSpPr/>
          <p:nvPr/>
        </p:nvSpPr>
        <p:spPr>
          <a:xfrm>
            <a:off x="1897321" y="2166427"/>
            <a:ext cx="2912638" cy="364080"/>
          </a:xfrm>
          <a:prstGeom prst="rect">
            <a:avLst/>
          </a:prstGeom>
          <a:noFill/>
          <a:ln/>
        </p:spPr>
        <p:txBody>
          <a:bodyPr wrap="none" lIns="0" tIns="0" rIns="0" bIns="0" rtlCol="0" anchor="t"/>
          <a:lstStyle/>
          <a:p>
            <a:pPr algn="l" indent="0" marL="0">
              <a:lnSpc>
                <a:spcPts val="1650"/>
              </a:lnSpc>
              <a:buNone/>
            </a:pPr>
            <a:r>
              <a:rPr lang="en-US" sz="1350" dirty="0">
                <a:solidFill>
                  <a:srgbClr val="3C3939"/>
                </a:solidFill>
                <a:latin typeface="Raleway" pitchFamily="34" charset="0"/>
                <a:ea typeface="Raleway" pitchFamily="34" charset="-122"/>
                <a:cs typeface="Raleway" pitchFamily="34" charset="-120"/>
              </a:rPr>
              <a:t>Requirements</a:t>
            </a:r>
            <a:endParaRPr lang="en-US" sz="1350" dirty="0"/>
          </a:p>
        </p:txBody>
      </p:sp>
      <p:sp>
        <p:nvSpPr>
          <p:cNvPr id="14" name="Text 8"/>
          <p:cNvSpPr/>
          <p:nvPr/>
        </p:nvSpPr>
        <p:spPr>
          <a:xfrm>
            <a:off x="1897321" y="2634067"/>
            <a:ext cx="4440155" cy="291264"/>
          </a:xfrm>
          <a:prstGeom prst="rect">
            <a:avLst/>
          </a:prstGeom>
          <a:noFill/>
          <a:ln/>
        </p:spPr>
        <p:txBody>
          <a:bodyPr wrap="none" lIns="0" tIns="0" rIns="0" bIns="0" rtlCol="0" anchor="t"/>
          <a:lstStyle/>
          <a:p>
            <a:pPr algn="l" indent="0" marL="0">
              <a:lnSpc>
                <a:spcPts val="1350"/>
              </a:lnSpc>
              <a:buNone/>
            </a:pPr>
            <a:r>
              <a:rPr lang="en-US" sz="1050" dirty="0">
                <a:solidFill>
                  <a:srgbClr val="3C3939"/>
                </a:solidFill>
                <a:latin typeface="Roboto" pitchFamily="34" charset="0"/>
                <a:ea typeface="Roboto" pitchFamily="34" charset="-122"/>
                <a:cs typeface="Roboto" pitchFamily="34" charset="-120"/>
              </a:rPr>
              <a:t>AI assists in capturing clear needs quickly.</a:t>
            </a:r>
            <a:endParaRPr lang="en-US" sz="1050" dirty="0"/>
          </a:p>
        </p:txBody>
      </p:sp>
      <p:pic>
        <p:nvPicPr>
          <p:cNvPr id="15" name="Image 4" descr="preencoded.png">    </p:cNvPr>
          <p:cNvPicPr>
            <a:picLocks noChangeAspect="1"/>
          </p:cNvPicPr>
          <p:nvPr/>
        </p:nvPicPr>
        <p:blipFill>
          <a:blip r:embed="rId5"/>
          <a:stretch>
            <a:fillRect/>
          </a:stretch>
        </p:blipFill>
        <p:spPr>
          <a:xfrm>
            <a:off x="1178870" y="2166427"/>
            <a:ext cx="237259" cy="2372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67425" y="549593"/>
            <a:ext cx="2495550" cy="311944"/>
          </a:xfrm>
          <a:prstGeom prst="rect">
            <a:avLst/>
          </a:prstGeom>
          <a:noFill/>
          <a:ln/>
        </p:spPr>
        <p:txBody>
          <a:bodyPr wrap="none" lIns="0" tIns="0" rIns="0" bIns="0" rtlCol="0" anchor="t"/>
          <a:lstStyle/>
          <a:p>
            <a:pPr algn="ctr" indent="0" marL="0">
              <a:lnSpc>
                <a:spcPts val="2450"/>
              </a:lnSpc>
              <a:buNone/>
            </a:pPr>
            <a:r>
              <a:rPr lang="en-US" sz="1950" dirty="0">
                <a:solidFill>
                  <a:srgbClr val="1B1B27"/>
                </a:solidFill>
                <a:latin typeface="Raleway" pitchFamily="34" charset="0"/>
                <a:ea typeface="Raleway" pitchFamily="34" charset="-122"/>
                <a:cs typeface="Raleway" pitchFamily="34" charset="-120"/>
              </a:rPr>
              <a:t>Chapter 4</a:t>
            </a:r>
            <a:endParaRPr lang="en-US" sz="1950" dirty="0"/>
          </a:p>
        </p:txBody>
      </p:sp>
      <p:sp>
        <p:nvSpPr>
          <p:cNvPr id="3" name="Text 1"/>
          <p:cNvSpPr/>
          <p:nvPr/>
        </p:nvSpPr>
        <p:spPr>
          <a:xfrm>
            <a:off x="4684871" y="1061085"/>
            <a:ext cx="5260658" cy="623887"/>
          </a:xfrm>
          <a:prstGeom prst="rect">
            <a:avLst/>
          </a:prstGeom>
          <a:noFill/>
          <a:ln/>
        </p:spPr>
        <p:txBody>
          <a:bodyPr wrap="none" lIns="0" tIns="0" rIns="0" bIns="0" rtlCol="0" anchor="t"/>
          <a:lstStyle/>
          <a:p>
            <a:pPr algn="ctr" indent="0" marL="0">
              <a:lnSpc>
                <a:spcPts val="4900"/>
              </a:lnSpc>
              <a:buNone/>
            </a:pPr>
            <a:r>
              <a:rPr lang="en-US" sz="3900" dirty="0">
                <a:solidFill>
                  <a:srgbClr val="1B1B27"/>
                </a:solidFill>
                <a:latin typeface="Raleway" pitchFamily="34" charset="0"/>
                <a:ea typeface="Raleway" pitchFamily="34" charset="-122"/>
                <a:cs typeface="Raleway" pitchFamily="34" charset="-120"/>
              </a:rPr>
              <a:t>Things to Keep in Mind</a:t>
            </a:r>
            <a:endParaRPr lang="en-US" sz="3900" dirty="0"/>
          </a:p>
        </p:txBody>
      </p:sp>
      <p:sp>
        <p:nvSpPr>
          <p:cNvPr id="4" name="Shape 2"/>
          <p:cNvSpPr/>
          <p:nvPr/>
        </p:nvSpPr>
        <p:spPr>
          <a:xfrm>
            <a:off x="698778" y="1984415"/>
            <a:ext cx="449104" cy="449104"/>
          </a:xfrm>
          <a:prstGeom prst="roundRect">
            <a:avLst>
              <a:gd name="adj" fmla="val 18671"/>
            </a:avLst>
          </a:prstGeom>
          <a:solidFill>
            <a:srgbClr val="E1E1EA"/>
          </a:solidFill>
          <a:ln w="7620">
            <a:solidFill>
              <a:srgbClr val="C7C7D0"/>
            </a:solidFill>
            <a:prstDash val="solid"/>
          </a:ln>
        </p:spPr>
      </p:sp>
      <p:sp>
        <p:nvSpPr>
          <p:cNvPr id="5" name="Text 3"/>
          <p:cNvSpPr/>
          <p:nvPr/>
        </p:nvSpPr>
        <p:spPr>
          <a:xfrm>
            <a:off x="1347430" y="2052995"/>
            <a:ext cx="3172182" cy="311944"/>
          </a:xfrm>
          <a:prstGeom prst="rect">
            <a:avLst/>
          </a:prstGeom>
          <a:noFill/>
          <a:ln/>
        </p:spPr>
        <p:txBody>
          <a:bodyPr wrap="none" lIns="0" tIns="0" rIns="0" bIns="0" rtlCol="0" anchor="t"/>
          <a:lstStyle/>
          <a:p>
            <a:pPr algn="l" indent="0" marL="0">
              <a:lnSpc>
                <a:spcPts val="2450"/>
              </a:lnSpc>
              <a:buNone/>
            </a:pPr>
            <a:r>
              <a:rPr lang="en-US" sz="1950" dirty="0">
                <a:solidFill>
                  <a:srgbClr val="3C3939"/>
                </a:solidFill>
                <a:latin typeface="Raleway" pitchFamily="34" charset="0"/>
                <a:ea typeface="Raleway" pitchFamily="34" charset="-122"/>
                <a:cs typeface="Raleway" pitchFamily="34" charset="-120"/>
              </a:rPr>
              <a:t>Validate AI-generated code</a:t>
            </a:r>
            <a:endParaRPr lang="en-US" sz="1950" dirty="0"/>
          </a:p>
        </p:txBody>
      </p:sp>
      <p:sp>
        <p:nvSpPr>
          <p:cNvPr id="6" name="Text 4"/>
          <p:cNvSpPr/>
          <p:nvPr/>
        </p:nvSpPr>
        <p:spPr>
          <a:xfrm>
            <a:off x="1347430" y="2484715"/>
            <a:ext cx="12584192" cy="319445"/>
          </a:xfrm>
          <a:prstGeom prst="rect">
            <a:avLst/>
          </a:prstGeom>
          <a:noFill/>
          <a:ln/>
        </p:spPr>
        <p:txBody>
          <a:bodyPr wrap="non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Always review and test AI-generated code. It may contain errors, inefficiencies, or security flaws.</a:t>
            </a:r>
            <a:endParaRPr lang="en-US" sz="1550" dirty="0"/>
          </a:p>
        </p:txBody>
      </p:sp>
      <p:sp>
        <p:nvSpPr>
          <p:cNvPr id="7" name="Shape 5"/>
          <p:cNvSpPr/>
          <p:nvPr/>
        </p:nvSpPr>
        <p:spPr>
          <a:xfrm>
            <a:off x="698778" y="3203377"/>
            <a:ext cx="449104" cy="449104"/>
          </a:xfrm>
          <a:prstGeom prst="roundRect">
            <a:avLst>
              <a:gd name="adj" fmla="val 18671"/>
            </a:avLst>
          </a:prstGeom>
          <a:solidFill>
            <a:srgbClr val="E1E1EA"/>
          </a:solidFill>
          <a:ln w="7620">
            <a:solidFill>
              <a:srgbClr val="C7C7D0"/>
            </a:solidFill>
            <a:prstDash val="solid"/>
          </a:ln>
        </p:spPr>
      </p:sp>
      <p:sp>
        <p:nvSpPr>
          <p:cNvPr id="8" name="Text 6"/>
          <p:cNvSpPr/>
          <p:nvPr/>
        </p:nvSpPr>
        <p:spPr>
          <a:xfrm>
            <a:off x="1347430" y="3271957"/>
            <a:ext cx="2594134" cy="311944"/>
          </a:xfrm>
          <a:prstGeom prst="rect">
            <a:avLst/>
          </a:prstGeom>
          <a:noFill/>
          <a:ln/>
        </p:spPr>
        <p:txBody>
          <a:bodyPr wrap="none" lIns="0" tIns="0" rIns="0" bIns="0" rtlCol="0" anchor="t"/>
          <a:lstStyle/>
          <a:p>
            <a:pPr algn="l" indent="0" marL="0">
              <a:lnSpc>
                <a:spcPts val="2450"/>
              </a:lnSpc>
              <a:buNone/>
            </a:pPr>
            <a:r>
              <a:rPr lang="en-US" sz="1950" dirty="0">
                <a:solidFill>
                  <a:srgbClr val="3C3939"/>
                </a:solidFill>
                <a:latin typeface="Raleway" pitchFamily="34" charset="0"/>
                <a:ea typeface="Raleway" pitchFamily="34" charset="-122"/>
                <a:cs typeface="Raleway" pitchFamily="34" charset="-120"/>
              </a:rPr>
              <a:t>Security vulnerabilities</a:t>
            </a:r>
            <a:endParaRPr lang="en-US" sz="1950" dirty="0"/>
          </a:p>
        </p:txBody>
      </p:sp>
      <p:sp>
        <p:nvSpPr>
          <p:cNvPr id="9" name="Text 7"/>
          <p:cNvSpPr/>
          <p:nvPr/>
        </p:nvSpPr>
        <p:spPr>
          <a:xfrm>
            <a:off x="1347430" y="3703677"/>
            <a:ext cx="12584192" cy="319445"/>
          </a:xfrm>
          <a:prstGeom prst="rect">
            <a:avLst/>
          </a:prstGeom>
          <a:noFill/>
          <a:ln/>
        </p:spPr>
        <p:txBody>
          <a:bodyPr wrap="non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AI models can sometimes introduce subtle vulnerabilities or propagate insecure patterns if not carefully managed.</a:t>
            </a:r>
            <a:endParaRPr lang="en-US" sz="1550" dirty="0"/>
          </a:p>
        </p:txBody>
      </p:sp>
      <p:sp>
        <p:nvSpPr>
          <p:cNvPr id="10" name="Shape 8"/>
          <p:cNvSpPr/>
          <p:nvPr/>
        </p:nvSpPr>
        <p:spPr>
          <a:xfrm>
            <a:off x="698778" y="4422338"/>
            <a:ext cx="449104" cy="449104"/>
          </a:xfrm>
          <a:prstGeom prst="roundRect">
            <a:avLst>
              <a:gd name="adj" fmla="val 18671"/>
            </a:avLst>
          </a:prstGeom>
          <a:solidFill>
            <a:srgbClr val="E1E1EA"/>
          </a:solidFill>
          <a:ln w="7620">
            <a:solidFill>
              <a:srgbClr val="C7C7D0"/>
            </a:solidFill>
            <a:prstDash val="solid"/>
          </a:ln>
        </p:spPr>
      </p:sp>
      <p:sp>
        <p:nvSpPr>
          <p:cNvPr id="11" name="Text 9"/>
          <p:cNvSpPr/>
          <p:nvPr/>
        </p:nvSpPr>
        <p:spPr>
          <a:xfrm>
            <a:off x="1347430" y="4490918"/>
            <a:ext cx="2550200" cy="311944"/>
          </a:xfrm>
          <a:prstGeom prst="rect">
            <a:avLst/>
          </a:prstGeom>
          <a:noFill/>
          <a:ln/>
        </p:spPr>
        <p:txBody>
          <a:bodyPr wrap="none" lIns="0" tIns="0" rIns="0" bIns="0" rtlCol="0" anchor="t"/>
          <a:lstStyle/>
          <a:p>
            <a:pPr algn="l" indent="0" marL="0">
              <a:lnSpc>
                <a:spcPts val="2450"/>
              </a:lnSpc>
              <a:buNone/>
            </a:pPr>
            <a:r>
              <a:rPr lang="en-US" sz="1950" dirty="0">
                <a:solidFill>
                  <a:srgbClr val="3C3939"/>
                </a:solidFill>
                <a:latin typeface="Raleway" pitchFamily="34" charset="0"/>
                <a:ea typeface="Raleway" pitchFamily="34" charset="-122"/>
                <a:cs typeface="Raleway" pitchFamily="34" charset="-120"/>
              </a:rPr>
              <a:t>Data privacy concerns</a:t>
            </a:r>
            <a:endParaRPr lang="en-US" sz="1950" dirty="0"/>
          </a:p>
        </p:txBody>
      </p:sp>
      <p:sp>
        <p:nvSpPr>
          <p:cNvPr id="12" name="Text 10"/>
          <p:cNvSpPr/>
          <p:nvPr/>
        </p:nvSpPr>
        <p:spPr>
          <a:xfrm>
            <a:off x="1347430" y="4922639"/>
            <a:ext cx="12584192" cy="319445"/>
          </a:xfrm>
          <a:prstGeom prst="rect">
            <a:avLst/>
          </a:prstGeom>
          <a:noFill/>
          <a:ln/>
        </p:spPr>
        <p:txBody>
          <a:bodyPr wrap="non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Be mindful of sensitive data in prompts, especially with cloud-based tools that might use your input for training.</a:t>
            </a:r>
            <a:endParaRPr lang="en-US" sz="1550" dirty="0"/>
          </a:p>
        </p:txBody>
      </p:sp>
      <p:sp>
        <p:nvSpPr>
          <p:cNvPr id="13" name="Shape 11"/>
          <p:cNvSpPr/>
          <p:nvPr/>
        </p:nvSpPr>
        <p:spPr>
          <a:xfrm>
            <a:off x="698778" y="5641300"/>
            <a:ext cx="449104" cy="449104"/>
          </a:xfrm>
          <a:prstGeom prst="roundRect">
            <a:avLst>
              <a:gd name="adj" fmla="val 18671"/>
            </a:avLst>
          </a:prstGeom>
          <a:solidFill>
            <a:srgbClr val="E1E1EA"/>
          </a:solidFill>
          <a:ln w="7620">
            <a:solidFill>
              <a:srgbClr val="C7C7D0"/>
            </a:solidFill>
            <a:prstDash val="solid"/>
          </a:ln>
        </p:spPr>
      </p:sp>
      <p:sp>
        <p:nvSpPr>
          <p:cNvPr id="14" name="Text 12"/>
          <p:cNvSpPr/>
          <p:nvPr/>
        </p:nvSpPr>
        <p:spPr>
          <a:xfrm>
            <a:off x="1347430" y="5709880"/>
            <a:ext cx="4834176" cy="311944"/>
          </a:xfrm>
          <a:prstGeom prst="rect">
            <a:avLst/>
          </a:prstGeom>
          <a:noFill/>
          <a:ln/>
        </p:spPr>
        <p:txBody>
          <a:bodyPr wrap="none" lIns="0" tIns="0" rIns="0" bIns="0" rtlCol="0" anchor="t"/>
          <a:lstStyle/>
          <a:p>
            <a:pPr algn="l" indent="0" marL="0">
              <a:lnSpc>
                <a:spcPts val="2450"/>
              </a:lnSpc>
              <a:buNone/>
            </a:pPr>
            <a:r>
              <a:rPr lang="en-US" sz="1950" dirty="0">
                <a:solidFill>
                  <a:srgbClr val="3C3939"/>
                </a:solidFill>
                <a:latin typeface="Raleway" pitchFamily="34" charset="0"/>
                <a:ea typeface="Raleway" pitchFamily="34" charset="-122"/>
                <a:cs typeface="Raleway" pitchFamily="34" charset="-120"/>
              </a:rPr>
              <a:t>Avoid dependency without understanding</a:t>
            </a:r>
            <a:endParaRPr lang="en-US" sz="1950" dirty="0"/>
          </a:p>
        </p:txBody>
      </p:sp>
      <p:sp>
        <p:nvSpPr>
          <p:cNvPr id="15" name="Text 13"/>
          <p:cNvSpPr/>
          <p:nvPr/>
        </p:nvSpPr>
        <p:spPr>
          <a:xfrm>
            <a:off x="1347430" y="6141601"/>
            <a:ext cx="12584192" cy="319445"/>
          </a:xfrm>
          <a:prstGeom prst="rect">
            <a:avLst/>
          </a:prstGeom>
          <a:noFill/>
          <a:ln/>
        </p:spPr>
        <p:txBody>
          <a:bodyPr wrap="non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Do not blindly accept AI suggestions. Understand the underlying logic and implications before integrating.</a:t>
            </a:r>
            <a:endParaRPr lang="en-US" sz="1550" dirty="0"/>
          </a:p>
        </p:txBody>
      </p:sp>
      <p:sp>
        <p:nvSpPr>
          <p:cNvPr id="16" name="Shape 14"/>
          <p:cNvSpPr/>
          <p:nvPr/>
        </p:nvSpPr>
        <p:spPr>
          <a:xfrm>
            <a:off x="698778" y="6860262"/>
            <a:ext cx="449104" cy="449104"/>
          </a:xfrm>
          <a:prstGeom prst="roundRect">
            <a:avLst>
              <a:gd name="adj" fmla="val 18671"/>
            </a:avLst>
          </a:prstGeom>
          <a:solidFill>
            <a:srgbClr val="E1E1EA"/>
          </a:solidFill>
          <a:ln w="7620">
            <a:solidFill>
              <a:srgbClr val="C7C7D0"/>
            </a:solidFill>
            <a:prstDash val="solid"/>
          </a:ln>
        </p:spPr>
      </p:sp>
      <p:sp>
        <p:nvSpPr>
          <p:cNvPr id="17" name="Text 15"/>
          <p:cNvSpPr/>
          <p:nvPr/>
        </p:nvSpPr>
        <p:spPr>
          <a:xfrm>
            <a:off x="1347430" y="6928842"/>
            <a:ext cx="2495550" cy="311944"/>
          </a:xfrm>
          <a:prstGeom prst="rect">
            <a:avLst/>
          </a:prstGeom>
          <a:noFill/>
          <a:ln/>
        </p:spPr>
        <p:txBody>
          <a:bodyPr wrap="none" lIns="0" tIns="0" rIns="0" bIns="0" rtlCol="0" anchor="t"/>
          <a:lstStyle/>
          <a:p>
            <a:pPr algn="l" indent="0" marL="0">
              <a:lnSpc>
                <a:spcPts val="2450"/>
              </a:lnSpc>
              <a:buNone/>
            </a:pPr>
            <a:r>
              <a:rPr lang="en-US" sz="1950" dirty="0">
                <a:solidFill>
                  <a:srgbClr val="3C3939"/>
                </a:solidFill>
                <a:latin typeface="Raleway" pitchFamily="34" charset="0"/>
                <a:ea typeface="Raleway" pitchFamily="34" charset="-122"/>
                <a:cs typeface="Raleway" pitchFamily="34" charset="-120"/>
              </a:rPr>
              <a:t>Human-in-the-loop</a:t>
            </a:r>
            <a:endParaRPr lang="en-US" sz="1950" dirty="0"/>
          </a:p>
        </p:txBody>
      </p:sp>
      <p:sp>
        <p:nvSpPr>
          <p:cNvPr id="18" name="Text 16"/>
          <p:cNvSpPr/>
          <p:nvPr/>
        </p:nvSpPr>
        <p:spPr>
          <a:xfrm>
            <a:off x="1347430" y="7360563"/>
            <a:ext cx="12584192" cy="319445"/>
          </a:xfrm>
          <a:prstGeom prst="rect">
            <a:avLst/>
          </a:prstGeom>
          <a:noFill/>
          <a:ln/>
        </p:spPr>
        <p:txBody>
          <a:bodyPr wrap="none" lIns="0" tIns="0" rIns="0" bIns="0" rtlCol="0" anchor="t"/>
          <a:lstStyle/>
          <a:p>
            <a:pPr algn="l" indent="0" marL="0">
              <a:lnSpc>
                <a:spcPts val="2500"/>
              </a:lnSpc>
              <a:buNone/>
            </a:pPr>
            <a:r>
              <a:rPr lang="en-US" sz="1550" dirty="0">
                <a:solidFill>
                  <a:srgbClr val="3C3939"/>
                </a:solidFill>
                <a:latin typeface="Roboto" pitchFamily="34" charset="0"/>
                <a:ea typeface="Roboto" pitchFamily="34" charset="-122"/>
                <a:cs typeface="Roboto" pitchFamily="34" charset="-120"/>
              </a:rPr>
              <a:t>Maintain human oversight and control at all stages. AI is a tool to assist, not replace, human intelligence.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544366" y="1346121"/>
            <a:ext cx="9541669" cy="708779"/>
          </a:xfrm>
          <a:prstGeom prst="rect">
            <a:avLst/>
          </a:prstGeom>
          <a:noFill/>
          <a:ln/>
        </p:spPr>
        <p:txBody>
          <a:bodyPr wrap="none" lIns="0" tIns="0" rIns="0" bIns="0" rtlCol="0" anchor="t"/>
          <a:lstStyle/>
          <a:p>
            <a:pPr algn="ctr" indent="0" marL="0">
              <a:lnSpc>
                <a:spcPts val="5550"/>
              </a:lnSpc>
              <a:buNone/>
            </a:pPr>
            <a:r>
              <a:rPr lang="en-US" sz="4450" dirty="0">
                <a:solidFill>
                  <a:srgbClr val="1B1B27"/>
                </a:solidFill>
                <a:latin typeface="Raleway" pitchFamily="34" charset="0"/>
                <a:ea typeface="Raleway" pitchFamily="34" charset="-122"/>
                <a:cs typeface="Raleway" pitchFamily="34" charset="-120"/>
              </a:rPr>
              <a:t>Precautions &amp; Ethical Considerations</a:t>
            </a:r>
            <a:endParaRPr lang="en-US" sz="4450" dirty="0"/>
          </a:p>
        </p:txBody>
      </p:sp>
      <p:sp>
        <p:nvSpPr>
          <p:cNvPr id="3" name="Text 1"/>
          <p:cNvSpPr/>
          <p:nvPr/>
        </p:nvSpPr>
        <p:spPr>
          <a:xfrm>
            <a:off x="793790" y="2599134"/>
            <a:ext cx="3978116" cy="1451610"/>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Data Leaks:</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Never input sensitive code, proprietary algorithms, or confidential data into public AI models.</a:t>
            </a:r>
            <a:endParaRPr lang="en-US" sz="1750" dirty="0"/>
          </a:p>
        </p:txBody>
      </p:sp>
      <p:sp>
        <p:nvSpPr>
          <p:cNvPr id="4" name="Text 2"/>
          <p:cNvSpPr/>
          <p:nvPr/>
        </p:nvSpPr>
        <p:spPr>
          <a:xfrm>
            <a:off x="793790" y="4130040"/>
            <a:ext cx="3978116" cy="1451610"/>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Code Quality:</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Do not compromise on code quality. AI suggestions can be suboptimal or verbose; refactor and optimise as needed.</a:t>
            </a:r>
            <a:endParaRPr lang="en-US" sz="1750" dirty="0"/>
          </a:p>
        </p:txBody>
      </p:sp>
      <p:pic>
        <p:nvPicPr>
          <p:cNvPr id="5" name="Image 0" descr="preencoded.png">    </p:cNvPr>
          <p:cNvPicPr>
            <a:picLocks noChangeAspect="1"/>
          </p:cNvPicPr>
          <p:nvPr/>
        </p:nvPicPr>
        <p:blipFill>
          <a:blip r:embed="rId1"/>
          <a:stretch>
            <a:fillRect/>
          </a:stretch>
        </p:blipFill>
        <p:spPr>
          <a:xfrm>
            <a:off x="5332928" y="2650212"/>
            <a:ext cx="3978116" cy="3978116"/>
          </a:xfrm>
          <a:prstGeom prst="rect">
            <a:avLst/>
          </a:prstGeom>
        </p:spPr>
      </p:pic>
      <p:sp>
        <p:nvSpPr>
          <p:cNvPr id="6" name="Text 3"/>
          <p:cNvSpPr/>
          <p:nvPr/>
        </p:nvSpPr>
        <p:spPr>
          <a:xfrm>
            <a:off x="9872067" y="2599134"/>
            <a:ext cx="3978116" cy="1814513"/>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Licensing:</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Be aware of the licensing implications for AI-generated code. Some tools may generate code based on open-source licenses.</a:t>
            </a:r>
            <a:endParaRPr lang="en-US" sz="1750" dirty="0"/>
          </a:p>
        </p:txBody>
      </p:sp>
      <p:sp>
        <p:nvSpPr>
          <p:cNvPr id="7" name="Text 4"/>
          <p:cNvSpPr/>
          <p:nvPr/>
        </p:nvSpPr>
        <p:spPr>
          <a:xfrm>
            <a:off x="9872067" y="4492942"/>
            <a:ext cx="3978116" cy="1451610"/>
          </a:xfrm>
          <a:prstGeom prst="rect">
            <a:avLst/>
          </a:prstGeom>
          <a:noFill/>
          <a:ln/>
        </p:spPr>
        <p:txBody>
          <a:bodyPr wrap="square" lIns="0" tIns="0" rIns="0" bIns="0" rtlCol="0" anchor="t"/>
          <a:lstStyle/>
          <a:p>
            <a:pPr algn="l" marL="342900" indent="-342900">
              <a:lnSpc>
                <a:spcPts val="2850"/>
              </a:lnSpc>
              <a:buSzPct val="100000"/>
              <a:buChar char="•"/>
            </a:pPr>
            <a:r>
              <a:rPr lang="en-US" sz="1750" b="1" dirty="0">
                <a:solidFill>
                  <a:srgbClr val="3C3939"/>
                </a:solidFill>
                <a:latin typeface="Roboto" pitchFamily="34" charset="0"/>
                <a:ea typeface="Roboto" pitchFamily="34" charset="-122"/>
                <a:cs typeface="Roboto" pitchFamily="34" charset="-120"/>
              </a:rPr>
              <a:t>Team Policies:</a:t>
            </a:r>
            <a:pPr algn="l" indent="0" marL="0">
              <a:lnSpc>
                <a:spcPts val="2850"/>
              </a:lnSpc>
              <a:buNone/>
            </a:pPr>
            <a:r>
              <a:rPr lang="en-US" sz="1750" dirty="0">
                <a:solidFill>
                  <a:srgbClr val="3C3939"/>
                </a:solidFill>
                <a:latin typeface="Roboto" pitchFamily="34" charset="0"/>
                <a:ea typeface="Roboto" pitchFamily="34" charset="-122"/>
                <a:cs typeface="Roboto" pitchFamily="34" charset="-120"/>
              </a:rPr>
              <a:t> Adhere to your organisation's policies on AI tool usage, data handling, and intellectual property.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2025-08-05T09:57:52Z</dcterms:created>
  <dcterms:modified xsi:type="dcterms:W3CDTF">2025-08-05T09:57:52Z</dcterms:modified>
</cp:coreProperties>
</file>